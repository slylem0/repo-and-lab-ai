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6.svg" ContentType="image/svg+xml"/>
  <Override PartName="/ppt/media/image57.svg" ContentType="image/svg+xml"/>
  <Override PartName="/ppt/media/image58.svg" ContentType="image/svg+xml"/>
  <Override PartName="/ppt/media/image59.svg" ContentType="image/svg+xml"/>
  <Override PartName="/ppt/media/image6.svg" ContentType="image/svg+xml"/>
  <Override PartName="/ppt/media/image60.svg" ContentType="image/svg+xml"/>
  <Override PartName="/ppt/media/image61.svg" ContentType="image/svg+xml"/>
  <Override PartName="/ppt/media/image62.svg" ContentType="image/svg+xml"/>
  <Override PartName="/ppt/media/image63.svg" ContentType="image/svg+xml"/>
  <Override PartName="/ppt/media/image66.svg" ContentType="image/svg+xml"/>
  <Override PartName="/ppt/media/image69.svg" ContentType="image/svg+xml"/>
  <Override PartName="/ppt/media/image7.svg" ContentType="image/svg+xml"/>
  <Override PartName="/ppt/media/image71.svg" ContentType="image/svg+xml"/>
  <Override PartName="/ppt/media/image72.svg" ContentType="image/svg+xml"/>
  <Override PartName="/ppt/media/image73.svg" ContentType="image/svg+xml"/>
  <Override PartName="/ppt/media/image75.svg" ContentType="image/svg+xml"/>
  <Override PartName="/ppt/media/image76.svg" ContentType="image/svg+xml"/>
  <Override PartName="/ppt/media/image77.svg" ContentType="image/svg+xml"/>
  <Override PartName="/ppt/media/image78.svg" ContentType="image/svg+xml"/>
  <Override PartName="/ppt/media/image79.svg" ContentType="image/svg+xml"/>
  <Override PartName="/ppt/media/image8.svg" ContentType="image/svg+xml"/>
  <Override PartName="/ppt/media/image80.svg" ContentType="image/svg+xml"/>
  <Override PartName="/ppt/media/image81.svg" ContentType="image/svg+xml"/>
  <Override PartName="/ppt/media/image82.svg" ContentType="image/svg+xml"/>
  <Override PartName="/ppt/media/image83.svg" ContentType="image/svg+xml"/>
  <Override PartName="/ppt/media/image84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63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295" r:id="rId55"/>
    <p:sldId id="296" r:id="rId56"/>
    <p:sldId id="297" r:id="rId57"/>
    <p:sldId id="298" r:id="rId58"/>
    <p:sldId id="299" r:id="rId59"/>
    <p:sldId id="300" r:id="rId60"/>
    <p:sldId id="301" r:id="rId61"/>
    <p:sldId id="302" r:id="rId62"/>
    <p:sldId id="303" r:id="rId15"/>
    <p:sldId id="304" r:id="rId14"/>
    <p:sldId id="305" r:id="rId13"/>
    <p:sldId id="306" r:id="rId12"/>
    <p:sldId id="307" r:id="rId11"/>
    <p:sldId id="308" r:id="rId10"/>
    <p:sldId id="309" r:id="rId9"/>
    <p:sldId id="310" r:id="rId8"/>
    <p:sldId id="311" r:id="rId7"/>
    <p:sldId id="312" r:id="rId6"/>
    <p:sldId id="313" r:id="rId5"/>
    <p:sldId id="314" r:id="rId74"/>
    <p:sldId id="315" r:id="rId75"/>
    <p:sldId id="316" r:id="rId76"/>
    <p:sldId id="317" r:id="rId77"/>
    <p:sldId id="318" r:id="rId78"/>
    <p:sldId id="319" r:id="rId79"/>
    <p:sldId id="320" r:id="rId80"/>
    <p:sldId id="321" r:id="rId81"/>
    <p:sldId id="322" r:id="rId82"/>
    <p:sldId id="323" r:id="rId83"/>
    <p:sldId id="324" r:id="rId84"/>
    <p:sldId id="325" r:id="rId85"/>
    <p:sldId id="326" r:id="rId86"/>
    <p:sldId id="327" r:id="rId87"/>
    <p:sldId id="328" r:id="rId88"/>
    <p:sldId id="329" r:id="rId89"/>
    <p:sldId id="330" r:id="rId90"/>
    <p:sldId id="331" r:id="rId91"/>
    <p:sldId id="332" r:id="rId92"/>
    <p:sldId id="333" r:id="rId93"/>
    <p:sldId id="334" r:id="rId94"/>
    <p:sldId id="335" r:id="rId95"/>
    <p:sldId id="336" r:id="rId96"/>
    <p:sldId id="337" r:id="rId97"/>
    <p:sldId id="338" r:id="rId98"/>
    <p:sldId id="339" r:id="rId99"/>
    <p:sldId id="340" r:id="rId100"/>
    <p:sldId id="341" r:id="rId101"/>
    <p:sldId id="342" r:id="rId102"/>
  </p:sldIdLst>
  <p:sldSz cx="12192000" cy="6858000"/>
  <p:notesSz cx="6858000" cy="9144000"/>
  <p:embeddedFontLst>
    <p:embeddedFont>
      <p:font typeface="Amazon Ember Display" panose="020F0603020204020204" pitchFamily="34" charset="0"/>
      <p:regular r:id="rId64"/>
      <p:bold r:id="rId65"/>
      <p:italic r:id="rId66"/>
      <p:boldItalic r:id="rId67"/>
    </p:embeddedFont>
    <p:embeddedFont>
      <p:font typeface="Amazon Ember Duospace" panose="020B0703020204020204" pitchFamily="34" charset="0"/>
      <p:regular r:id="rId68"/>
      <p:bold r:id="rId6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871"/>
    <a:srgbClr val="DEDEE3"/>
    <a:srgbClr val="D14600"/>
    <a:srgbClr val="006CE0"/>
    <a:srgbClr val="008559"/>
    <a:srgbClr val="7300E5"/>
    <a:srgbClr val="D600BA"/>
    <a:srgbClr val="8C8C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66"/>
    <p:restoredTop sz="94802"/>
  </p:normalViewPr>
  <p:slideViewPr>
    <p:cSldViewPr snapToGrid="0">
      <p:cViewPr varScale="1">
        <p:scale>
          <a:sx n="120" d="100"/>
          <a:sy n="120" d="100"/>
        </p:scale>
        <p:origin x="1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58.xml"/><Relationship Id="rId6" Type="http://schemas.openxmlformats.org/officeDocument/2006/relationships/slide" Target="slides/slide57.xml"/><Relationship Id="rId7" Type="http://schemas.openxmlformats.org/officeDocument/2006/relationships/slide" Target="slides/slide56.xml"/><Relationship Id="rId8" Type="http://schemas.openxmlformats.org/officeDocument/2006/relationships/slide" Target="slides/slide55.xml"/><Relationship Id="rId9" Type="http://schemas.openxmlformats.org/officeDocument/2006/relationships/slide" Target="slides/slide54.xml"/><Relationship Id="rId10" Type="http://schemas.openxmlformats.org/officeDocument/2006/relationships/slide" Target="slides/slide53.xml"/><Relationship Id="rId11" Type="http://schemas.openxmlformats.org/officeDocument/2006/relationships/slide" Target="slides/slide52.xml"/><Relationship Id="rId12" Type="http://schemas.openxmlformats.org/officeDocument/2006/relationships/slide" Target="slides/slide51.xml"/><Relationship Id="rId13" Type="http://schemas.openxmlformats.org/officeDocument/2006/relationships/slide" Target="slides/slide50.xml"/><Relationship Id="rId14" Type="http://schemas.openxmlformats.org/officeDocument/2006/relationships/slide" Target="slides/slide49.xml"/><Relationship Id="rId15" Type="http://schemas.openxmlformats.org/officeDocument/2006/relationships/slide" Target="slides/slide48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54" Type="http://schemas.openxmlformats.org/officeDocument/2006/relationships/slide" Target="slides/slide39.xml"/><Relationship Id="rId55" Type="http://schemas.openxmlformats.org/officeDocument/2006/relationships/slide" Target="slides/slide40.xml"/><Relationship Id="rId56" Type="http://schemas.openxmlformats.org/officeDocument/2006/relationships/slide" Target="slides/slide41.xml"/><Relationship Id="rId57" Type="http://schemas.openxmlformats.org/officeDocument/2006/relationships/slide" Target="slides/slide42.xml"/><Relationship Id="rId58" Type="http://schemas.openxmlformats.org/officeDocument/2006/relationships/slide" Target="slides/slide43.xml"/><Relationship Id="rId59" Type="http://schemas.openxmlformats.org/officeDocument/2006/relationships/slide" Target="slides/slide44.xml"/><Relationship Id="rId60" Type="http://schemas.openxmlformats.org/officeDocument/2006/relationships/slide" Target="slides/slide45.xml"/><Relationship Id="rId61" Type="http://schemas.openxmlformats.org/officeDocument/2006/relationships/slide" Target="slides/slide46.xml"/><Relationship Id="rId62" Type="http://schemas.openxmlformats.org/officeDocument/2006/relationships/slide" Target="slides/slide47.xml"/><Relationship Id="rId63" Type="http://schemas.openxmlformats.org/officeDocument/2006/relationships/notesMaster" Target="notesMasters/notesMaster1.xml"/><Relationship Id="rId64" Type="http://schemas.openxmlformats.org/officeDocument/2006/relationships/font" Target="fonts/font1.fntdata"/><Relationship Id="rId65" Type="http://schemas.openxmlformats.org/officeDocument/2006/relationships/font" Target="fonts/font2.fntdata"/><Relationship Id="rId66" Type="http://schemas.openxmlformats.org/officeDocument/2006/relationships/font" Target="fonts/font3.fntdata"/><Relationship Id="rId67" Type="http://schemas.openxmlformats.org/officeDocument/2006/relationships/font" Target="fonts/font4.fntdata"/><Relationship Id="rId68" Type="http://schemas.openxmlformats.org/officeDocument/2006/relationships/font" Target="fonts/font5.fntdata"/><Relationship Id="rId69" Type="http://schemas.openxmlformats.org/officeDocument/2006/relationships/font" Target="fonts/font6.fntdata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Relationship Id="rId74" Type="http://schemas.openxmlformats.org/officeDocument/2006/relationships/slide" Target="slides/slide59.xml"/><Relationship Id="rId75" Type="http://schemas.openxmlformats.org/officeDocument/2006/relationships/slide" Target="slides/slide60.xml"/><Relationship Id="rId76" Type="http://schemas.openxmlformats.org/officeDocument/2006/relationships/slide" Target="slides/slide61.xml"/><Relationship Id="rId77" Type="http://schemas.openxmlformats.org/officeDocument/2006/relationships/slide" Target="slides/slide62.xml"/><Relationship Id="rId78" Type="http://schemas.openxmlformats.org/officeDocument/2006/relationships/slide" Target="slides/slide63.xml"/><Relationship Id="rId79" Type="http://schemas.openxmlformats.org/officeDocument/2006/relationships/slide" Target="slides/slide64.xml"/><Relationship Id="rId80" Type="http://schemas.openxmlformats.org/officeDocument/2006/relationships/slide" Target="slides/slide65.xml"/><Relationship Id="rId81" Type="http://schemas.openxmlformats.org/officeDocument/2006/relationships/slide" Target="slides/slide66.xml"/><Relationship Id="rId82" Type="http://schemas.openxmlformats.org/officeDocument/2006/relationships/slide" Target="slides/slide67.xml"/><Relationship Id="rId83" Type="http://schemas.openxmlformats.org/officeDocument/2006/relationships/slide" Target="slides/slide68.xml"/><Relationship Id="rId84" Type="http://schemas.openxmlformats.org/officeDocument/2006/relationships/slide" Target="slides/slide69.xml"/><Relationship Id="rId85" Type="http://schemas.openxmlformats.org/officeDocument/2006/relationships/slide" Target="slides/slide70.xml"/><Relationship Id="rId86" Type="http://schemas.openxmlformats.org/officeDocument/2006/relationships/slide" Target="slides/slide71.xml"/><Relationship Id="rId87" Type="http://schemas.openxmlformats.org/officeDocument/2006/relationships/slide" Target="slides/slide72.xml"/><Relationship Id="rId88" Type="http://schemas.openxmlformats.org/officeDocument/2006/relationships/slide" Target="slides/slide73.xml"/><Relationship Id="rId89" Type="http://schemas.openxmlformats.org/officeDocument/2006/relationships/slide" Target="slides/slide74.xml"/><Relationship Id="rId90" Type="http://schemas.openxmlformats.org/officeDocument/2006/relationships/slide" Target="slides/slide75.xml"/><Relationship Id="rId91" Type="http://schemas.openxmlformats.org/officeDocument/2006/relationships/slide" Target="slides/slide76.xml"/><Relationship Id="rId92" Type="http://schemas.openxmlformats.org/officeDocument/2006/relationships/slide" Target="slides/slide77.xml"/><Relationship Id="rId93" Type="http://schemas.openxmlformats.org/officeDocument/2006/relationships/slide" Target="slides/slide78.xml"/><Relationship Id="rId94" Type="http://schemas.openxmlformats.org/officeDocument/2006/relationships/slide" Target="slides/slide79.xml"/><Relationship Id="rId95" Type="http://schemas.openxmlformats.org/officeDocument/2006/relationships/slide" Target="slides/slide80.xml"/><Relationship Id="rId96" Type="http://schemas.openxmlformats.org/officeDocument/2006/relationships/slide" Target="slides/slide81.xml"/><Relationship Id="rId97" Type="http://schemas.openxmlformats.org/officeDocument/2006/relationships/slide" Target="slides/slide82.xml"/><Relationship Id="rId98" Type="http://schemas.openxmlformats.org/officeDocument/2006/relationships/slide" Target="slides/slide83.xml"/><Relationship Id="rId99" Type="http://schemas.openxmlformats.org/officeDocument/2006/relationships/slide" Target="slides/slide84.xml"/><Relationship Id="rId100" Type="http://schemas.openxmlformats.org/officeDocument/2006/relationships/slide" Target="slides/slide85.xml"/><Relationship Id="rId101" Type="http://schemas.openxmlformats.org/officeDocument/2006/relationships/slide" Target="slides/slide86.xml"/><Relationship Id="rId102" Type="http://schemas.openxmlformats.org/officeDocument/2006/relationships/slide" Target="slides/slide8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D65C6B-A0EB-B345-85AD-CC639E278AD5}" type="datetimeFigureOut">
              <a:rPr lang="da-DK" smtClean="0"/>
              <a:t>12.05.2026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9CB3D-9B9B-C540-B170-4844630B8FBF}" type="slidenum">
              <a:rPr lang="da-DK" smtClean="0"/>
              <a:t>‹Nº›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412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9.svg"/><Relationship Id="rId4" Type="http://schemas.openxmlformats.org/officeDocument/2006/relationships/image" Target="../media/image10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svg"/><Relationship Id="rId3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svg"/><Relationship Id="rId3" Type="http://schemas.openxmlformats.org/officeDocument/2006/relationships/image" Target="../media/image9.svg"/><Relationship Id="rId4" Type="http://schemas.openxmlformats.org/officeDocument/2006/relationships/image" Target="../media/image1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9.svg"/><Relationship Id="rId4" Type="http://schemas.openxmlformats.org/officeDocument/2006/relationships/image" Target="../media/image1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9.svg"/><Relationship Id="rId4" Type="http://schemas.openxmlformats.org/officeDocument/2006/relationships/image" Target="../media/image18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svg"/><Relationship Id="rId3" Type="http://schemas.openxmlformats.org/officeDocument/2006/relationships/image" Target="../media/image20.svg"/><Relationship Id="rId4" Type="http://schemas.openxmlformats.org/officeDocument/2006/relationships/image" Target="../media/image10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svg"/><Relationship Id="rId3" Type="http://schemas.openxmlformats.org/officeDocument/2006/relationships/image" Target="../media/image20.svg"/><Relationship Id="rId4" Type="http://schemas.openxmlformats.org/officeDocument/2006/relationships/image" Target="../media/image12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svg"/><Relationship Id="rId3" Type="http://schemas.openxmlformats.org/officeDocument/2006/relationships/image" Target="../media/image20.svg"/><Relationship Id="rId4" Type="http://schemas.openxmlformats.org/officeDocument/2006/relationships/image" Target="../media/image14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svg"/><Relationship Id="rId3" Type="http://schemas.openxmlformats.org/officeDocument/2006/relationships/image" Target="../media/image20.svg"/><Relationship Id="rId4" Type="http://schemas.openxmlformats.org/officeDocument/2006/relationships/image" Target="../media/image1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svg"/><Relationship Id="rId3" Type="http://schemas.openxmlformats.org/officeDocument/2006/relationships/image" Target="../media/image20.svg"/><Relationship Id="rId4" Type="http://schemas.openxmlformats.org/officeDocument/2006/relationships/image" Target="../media/image18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svg"/><Relationship Id="rId3" Type="http://schemas.openxmlformats.org/officeDocument/2006/relationships/image" Target="../media/image27.svg"/><Relationship Id="rId4" Type="http://schemas.openxmlformats.org/officeDocument/2006/relationships/image" Target="../media/image28.svg"/><Relationship Id="rId5" Type="http://schemas.openxmlformats.org/officeDocument/2006/relationships/image" Target="../media/image29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svg"/><Relationship Id="rId3" Type="http://schemas.openxmlformats.org/officeDocument/2006/relationships/image" Target="../media/image27.svg"/><Relationship Id="rId4" Type="http://schemas.openxmlformats.org/officeDocument/2006/relationships/image" Target="../media/image35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svg"/><Relationship Id="rId3" Type="http://schemas.openxmlformats.org/officeDocument/2006/relationships/image" Target="../media/image20.svg"/><Relationship Id="rId4" Type="http://schemas.openxmlformats.org/officeDocument/2006/relationships/image" Target="../media/image35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svg"/><Relationship Id="rId3" Type="http://schemas.openxmlformats.org/officeDocument/2006/relationships/image" Target="../media/image40.svg"/><Relationship Id="rId4" Type="http://schemas.openxmlformats.org/officeDocument/2006/relationships/image" Target="../media/image35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svg"/><Relationship Id="rId3" Type="http://schemas.openxmlformats.org/officeDocument/2006/relationships/image" Target="../media/image20.svg"/><Relationship Id="rId4" Type="http://schemas.openxmlformats.org/officeDocument/2006/relationships/image" Target="../media/image35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svg"/><Relationship Id="rId3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svg"/><Relationship Id="rId3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svg"/><Relationship Id="rId3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svg"/><Relationship Id="rId3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svg"/><Relationship Id="rId3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svg"/><Relationship Id="rId3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svg"/><Relationship Id="rId3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svg"/><Relationship Id="rId3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svg"/><Relationship Id="rId3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svg"/><Relationship Id="rId3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svg"/><Relationship Id="rId3" Type="http://schemas.openxmlformats.org/officeDocument/2006/relationships/image" Target="../media/image35.svg"/><Relationship Id="rId4" Type="http://schemas.openxmlformats.org/officeDocument/2006/relationships/image" Target="../media/image27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svg"/><Relationship Id="rId3" Type="http://schemas.openxmlformats.org/officeDocument/2006/relationships/image" Target="../media/image35.svg"/><Relationship Id="rId4" Type="http://schemas.openxmlformats.org/officeDocument/2006/relationships/image" Target="../media/image54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svg"/><Relationship Id="rId3" Type="http://schemas.openxmlformats.org/officeDocument/2006/relationships/image" Target="../media/image35.svg"/><Relationship Id="rId4" Type="http://schemas.openxmlformats.org/officeDocument/2006/relationships/image" Target="../media/image54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6.svg"/><Relationship Id="rId3" Type="http://schemas.openxmlformats.org/officeDocument/2006/relationships/image" Target="../media/image35.svg"/><Relationship Id="rId4" Type="http://schemas.openxmlformats.org/officeDocument/2006/relationships/image" Target="../media/image5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svg"/><Relationship Id="rId3" Type="http://schemas.openxmlformats.org/officeDocument/2006/relationships/image" Target="../media/image35.svg"/><Relationship Id="rId4" Type="http://schemas.openxmlformats.org/officeDocument/2006/relationships/image" Target="../media/image54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svg"/><Relationship Id="rId3" Type="http://schemas.openxmlformats.org/officeDocument/2006/relationships/image" Target="../media/image35.svg"/><Relationship Id="rId4" Type="http://schemas.openxmlformats.org/officeDocument/2006/relationships/image" Target="../media/image54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9.svg"/><Relationship Id="rId3" Type="http://schemas.openxmlformats.org/officeDocument/2006/relationships/image" Target="../media/image35.svg"/><Relationship Id="rId4" Type="http://schemas.openxmlformats.org/officeDocument/2006/relationships/image" Target="../media/image5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0.svg"/><Relationship Id="rId3" Type="http://schemas.openxmlformats.org/officeDocument/2006/relationships/image" Target="../media/image35.svg"/><Relationship Id="rId4" Type="http://schemas.openxmlformats.org/officeDocument/2006/relationships/image" Target="../media/image54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1.svg"/><Relationship Id="rId3" Type="http://schemas.openxmlformats.org/officeDocument/2006/relationships/image" Target="../media/image35.svg"/><Relationship Id="rId4" Type="http://schemas.openxmlformats.org/officeDocument/2006/relationships/image" Target="../media/image54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2.svg"/><Relationship Id="rId3" Type="http://schemas.openxmlformats.org/officeDocument/2006/relationships/image" Target="../media/image35.svg"/><Relationship Id="rId4" Type="http://schemas.openxmlformats.org/officeDocument/2006/relationships/image" Target="../media/image54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svg"/><Relationship Id="rId3" Type="http://schemas.openxmlformats.org/officeDocument/2006/relationships/image" Target="../media/image35.svg"/><Relationship Id="rId4" Type="http://schemas.openxmlformats.org/officeDocument/2006/relationships/image" Target="../media/image54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5.png"/><Relationship Id="rId3" Type="http://schemas.openxmlformats.org/officeDocument/2006/relationships/image" Target="../media/image66.svg"/><Relationship Id="rId4" Type="http://schemas.openxmlformats.org/officeDocument/2006/relationships/image" Target="../media/image35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7.pn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8.png"/><Relationship Id="rId3" Type="http://schemas.openxmlformats.org/officeDocument/2006/relationships/image" Target="../media/image66.svg"/><Relationship Id="rId4" Type="http://schemas.openxmlformats.org/officeDocument/2006/relationships/image" Target="../media/image35.sv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9.svg"/><Relationship Id="rId3" Type="http://schemas.openxmlformats.org/officeDocument/2006/relationships/image" Target="../media/image3.svg"/><Relationship Id="rId4" Type="http://schemas.openxmlformats.org/officeDocument/2006/relationships/image" Target="../media/image2.svg"/><Relationship Id="rId5" Type="http://schemas.openxmlformats.org/officeDocument/2006/relationships/image" Target="../media/image70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1.svg"/><Relationship Id="rId3" Type="http://schemas.openxmlformats.org/officeDocument/2006/relationships/image" Target="../media/image35.svg"/><Relationship Id="rId4" Type="http://schemas.openxmlformats.org/officeDocument/2006/relationships/image" Target="../media/image54.svg"/><Relationship Id="rId5" Type="http://schemas.openxmlformats.org/officeDocument/2006/relationships/image" Target="../media/image70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2.svg"/><Relationship Id="rId3" Type="http://schemas.openxmlformats.org/officeDocument/2006/relationships/image" Target="../media/image3.svg"/><Relationship Id="rId4" Type="http://schemas.openxmlformats.org/officeDocument/2006/relationships/image" Target="../media/image73.svg"/><Relationship Id="rId5" Type="http://schemas.openxmlformats.org/officeDocument/2006/relationships/image" Target="../media/image74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5.svg"/><Relationship Id="rId3" Type="http://schemas.openxmlformats.org/officeDocument/2006/relationships/image" Target="../media/image20.svg"/><Relationship Id="rId4" Type="http://schemas.openxmlformats.org/officeDocument/2006/relationships/image" Target="../media/image35.svg"/><Relationship Id="rId5" Type="http://schemas.openxmlformats.org/officeDocument/2006/relationships/image" Target="../media/image74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6.svg"/><Relationship Id="rId3" Type="http://schemas.openxmlformats.org/officeDocument/2006/relationships/image" Target="../media/image2.svg"/><Relationship Id="rId4" Type="http://schemas.openxmlformats.org/officeDocument/2006/relationships/image" Target="../media/image77.svg"/><Relationship Id="rId5" Type="http://schemas.openxmlformats.org/officeDocument/2006/relationships/image" Target="../media/image78.svg"/><Relationship Id="rId6" Type="http://schemas.openxmlformats.org/officeDocument/2006/relationships/image" Target="../media/image35.sv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9.svg"/><Relationship Id="rId3" Type="http://schemas.openxmlformats.org/officeDocument/2006/relationships/image" Target="../media/image35.svg"/><Relationship Id="rId4" Type="http://schemas.openxmlformats.org/officeDocument/2006/relationships/image" Target="../media/image78.sv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0.svg"/><Relationship Id="rId3" Type="http://schemas.openxmlformats.org/officeDocument/2006/relationships/image" Target="../media/image35.svg"/><Relationship Id="rId4" Type="http://schemas.openxmlformats.org/officeDocument/2006/relationships/image" Target="../media/image78.sv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1.svg"/><Relationship Id="rId3" Type="http://schemas.openxmlformats.org/officeDocument/2006/relationships/image" Target="../media/image35.svg"/><Relationship Id="rId4" Type="http://schemas.openxmlformats.org/officeDocument/2006/relationships/image" Target="../media/image78.sv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2.svg"/><Relationship Id="rId3" Type="http://schemas.openxmlformats.org/officeDocument/2006/relationships/image" Target="../media/image35.svg"/><Relationship Id="rId4" Type="http://schemas.openxmlformats.org/officeDocument/2006/relationships/image" Target="../media/image78.sv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3.svg"/><Relationship Id="rId3" Type="http://schemas.openxmlformats.org/officeDocument/2006/relationships/image" Target="../media/image3.svg"/><Relationship Id="rId4" Type="http://schemas.openxmlformats.org/officeDocument/2006/relationships/image" Target="../media/image73.sv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4.svg"/><Relationship Id="rId3" Type="http://schemas.openxmlformats.org/officeDocument/2006/relationships/image" Target="../media/image27.svg"/><Relationship Id="rId4" Type="http://schemas.openxmlformats.org/officeDocument/2006/relationships/image" Target="../media/image3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57887" y="6299825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47D8DF4-5955-37F7-84A5-0450FA9A17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2AE210-12E3-DF68-ED52-9B488FA1BB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2760757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57887" y="6299825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9B4E8538-7414-88D9-D26D-AD80E73F67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71C3375-D779-B6CD-317B-72F8CCE944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2011187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57887" y="6299825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2938272-3CA1-48F3-2CDF-D57361B6A6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6FD1CE67-DC10-2B60-601C-B128610CD8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344672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57887" y="6299825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9B70CC5-60B9-18C5-97BE-AC0EB3148C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56203FAF-5F7A-E2AB-1F4F-6139AC3F2E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3862965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Pattern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>
            <a:extLst>
              <a:ext uri="{FF2B5EF4-FFF2-40B4-BE49-F238E27FC236}">
                <a16:creationId xmlns:a16="http://schemas.microsoft.com/office/drawing/2014/main" id="{99D11685-E809-D535-0154-DB255E652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5955" y="1120173"/>
            <a:ext cx="5027407" cy="1148894"/>
          </a:xfrm>
        </p:spPr>
        <p:txBody>
          <a:bodyPr anchor="t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60" name="Subtitle 2">
            <a:extLst>
              <a:ext uri="{FF2B5EF4-FFF2-40B4-BE49-F238E27FC236}">
                <a16:creationId xmlns:a16="http://schemas.microsoft.com/office/drawing/2014/main" id="{9E3CF355-294E-3AC3-7DA3-383B7FBE40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5955" y="3002844"/>
            <a:ext cx="4274372" cy="426156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C1D419E-AD8A-A63D-BDD2-FE2FA6E2F2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F88E825-E95D-BC60-2422-5A000ED3AB2C}"/>
              </a:ext>
            </a:extLst>
          </p:cNvPr>
          <p:cNvSpPr txBox="1"/>
          <p:nvPr userDrawn="1"/>
        </p:nvSpPr>
        <p:spPr>
          <a:xfrm>
            <a:off x="6857887" y="6299825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3F8CFD9A-9673-5100-4EA7-AF6420A0AA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279197"/>
            <a:ext cx="402152" cy="24129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E49BE1E-F05F-B8E6-071D-4AC8675835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7611" y="6097329"/>
            <a:ext cx="770276" cy="770276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66F3E15-89FB-FAE4-843C-5C8EFB79F1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376770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15920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DD13DE1-6FF5-5020-3264-1CBE007D42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5AA5DEF-5007-BC49-AF5B-2A8A9172DE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3049135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8EF7E4D-1290-52B4-D6CF-612DD7C0AF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3ED192A-5D56-85AB-4269-1209C1AEF3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2187507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6F3F9B0-C0CD-3049-753C-05BCA962CF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C4D91F10-9BB7-F1FA-BD1C-AAE09D5E2B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3008281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E96A94E-CBE1-4628-770E-C4C55D834D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6007E27-7342-404E-5041-ECF7DCD586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652284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- Icon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96CC69A5-15A1-8D1A-828A-F3DB89BCC4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496" y="6361822"/>
            <a:ext cx="402152" cy="24129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4E98AFD-8E5F-28C9-27CE-412B91100D75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0335D030-887A-C28F-4E39-785BD47AF4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Presentation</a:t>
            </a:r>
            <a:endParaRPr lang="da-DK" dirty="0"/>
          </a:p>
        </p:txBody>
      </p:sp>
      <p:sp>
        <p:nvSpPr>
          <p:cNvPr id="54" name="Subtitle 2">
            <a:extLst>
              <a:ext uri="{FF2B5EF4-FFF2-40B4-BE49-F238E27FC236}">
                <a16:creationId xmlns:a16="http://schemas.microsoft.com/office/drawing/2014/main" id="{BAB42921-CB9D-0CA8-4354-47C3636B88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8593" y="3869991"/>
            <a:ext cx="4274372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da-DK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530C169-F839-D8D6-E363-E3F9E0F9BF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9949" y="3045048"/>
            <a:ext cx="2287449" cy="2287449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ABCDB725-E0E1-2214-91DB-15A3452E3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313" y="6362601"/>
            <a:ext cx="1520687" cy="246221"/>
          </a:xfrm>
        </p:spPr>
        <p:txBody>
          <a:bodyPr/>
          <a:lstStyle>
            <a:lvl1pPr algn="ctr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03/26/26</a:t>
            </a:r>
          </a:p>
        </p:txBody>
      </p:sp>
    </p:spTree>
    <p:extLst>
      <p:ext uri="{BB962C8B-B14F-4D97-AF65-F5344CB8AC3E}">
        <p14:creationId xmlns:p14="http://schemas.microsoft.com/office/powerpoint/2010/main" val="47269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9585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A5260C-3747-1A48-FF69-9DC4DB5C2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50D826A-62A5-8B29-F0F2-D32025599B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9585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3F8E2-67C1-F600-68C7-5CB6CB360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8DB2AFB-BDB9-DC7E-47A2-5CBCD33AB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088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9585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3F8E2-67C1-F600-68C7-5CB6CB360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27568F4-4F79-0520-00A7-D5657BFF29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6794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9585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3F8E2-67C1-F600-68C7-5CB6CB360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8458AA3-5F16-7BE6-75AA-809018FC85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205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9585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3F8E2-67C1-F600-68C7-5CB6CB3603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68593" y="1120173"/>
            <a:ext cx="5027407" cy="2387600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9CBD583-E8BC-1684-9A4D-D61DA8E2B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104502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4384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9D8D8B9-3FC0-1D35-2201-FF21996F15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41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43999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FCC4C38-DB1B-4F2E-1D56-2EB5F09FA8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8791" y="6092792"/>
            <a:ext cx="765208" cy="76520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FA01BA8-29C5-1CA4-DA9F-B655031C11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167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FE3B195-718B-4FE4-4ACC-18445D6FCA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951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E88701-8616-46D6-355A-F93A7E4C1C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8444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5A0D0A1-65EA-D307-0653-736966C6A7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6717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F37AC05-69BD-5ECB-E910-329BB4BECC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8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76D83AD-EB3A-947A-DD57-E1F504755B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057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A 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1FDE4A3-2B5D-2979-84ED-4A9F58316F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B524272-691E-6748-D983-B7C5477431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9265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45236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BE262D-425E-A627-59E8-C645523922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D30CC7C-4F06-FADC-1A66-828E915D08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9711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5CBD5DD-DBA2-063D-0F27-1F6566E92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453E9A9-822C-14DB-520A-7AC5B63C0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880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ABD480-0343-F735-3C49-E3358EA6A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2C5E13-4D18-F97F-4BD7-CE102825B6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8892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CE63A1-DC69-F078-A35E-2167775732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02D6063-53E7-27C3-F781-5ABB7E4D7F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250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45236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0A17399-9BD0-523C-1FEE-D664AC466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5BCD445-0957-A256-EECC-A3316F8B39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878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2D939D-63F7-865B-C976-416405CC0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955" y="1555030"/>
            <a:ext cx="10651609" cy="2911151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Short sentence or heading goes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8262F06-461B-7CE9-54A8-10D872DC35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0679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C9BA9F0-9D69-C5FC-89C4-F394B63337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1925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014E5C8-09EE-2E74-3AC3-FB68FF97A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92A89F2-ABFB-D6F6-C9E1-103749B4667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E2E1A46-8BBA-4D2B-7AFC-C9E58000FF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7488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15657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5D34725-67E9-2352-B0E7-B41E8E95B7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1735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71147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B9F4DD3-6674-0039-A599-0CE7F22F50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993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68DAAF9-5E39-98E7-F14D-747F0BBD10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2350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0639059-1F52-C7BB-7EAC-E0FDC8F720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78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43CDBA8-370B-4C83-D6FD-E3AD1538A6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1662932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145462-C34A-BED5-9AEE-1232875B30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546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grid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D9267F0-523B-45CB-FC68-E9A35865FB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696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grid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3A1608-C6FD-DA86-633E-9226590BC0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8777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D9690D3-D89E-4246-0111-2EF9D8C0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539C3A8-ED20-DDD4-8A01-63C9CB05C3D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EB95A5F-FF9F-E938-57C4-44CC7F06F268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096000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75231D-5825-AE5F-F6E9-6F8E218275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049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8181034-E3E1-75D0-C431-AA4133ABA7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030BEC4E-5BCE-7935-6F1B-D8768BAA6F0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C1C935B-F6A1-EFE5-8326-553BC443EA41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096000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F92A121-3817-6CDB-8639-23F65CFE1C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53263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45236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B5D5D8A-DD8D-2E4F-8D01-4E0A7F8035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9BF6E51F-4141-82B6-B041-320633DF23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5862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EA312D6-893F-BC34-F08C-CC9CE97619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9E743B2-3D49-7881-AB8A-D5203F599C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1080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con White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65309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AAF7DFD-008C-0D6F-0FFD-C4A218C297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1AA4738-13C1-E9B0-5107-B536BC6697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21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278443A-73D1-0D2C-1C51-643CD2352E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6CD182C-6915-C7DA-4FF3-44DA8D39B7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3133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B3DFFFF-F7E0-36FE-28A5-ADCBE03A2C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298F575-F6C3-4A3B-49B4-0C7330DAB3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2069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67419FD-09A1-A531-34D0-CAC1509EDC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E1B426F-DD88-00CD-E103-3FABF8D602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6729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41F3B4-D3BE-3B57-52E0-52E28CDE9E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194A138-D15A-F939-5D1A-8F8FEBB4DC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1656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H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46B35FF-1398-8DC8-469B-3AFAF28144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25505BC-4923-1951-45F5-364788D815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856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I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453B466-B63B-B2D6-4A24-D9A356FB16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E53A806-40E7-FE6A-B358-5E0E8E91AE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50122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J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2557407-0374-0028-45C8-B37D4D3DA3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40BA264-2513-C9DE-734C-34DFA09134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609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hite 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09C8EC9-2F57-520C-B591-A38C05A350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112696B-EA57-4144-3932-ABFCB46787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556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AE8BA21-5D16-8432-E8A6-0028AE0B24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5D97242-D74A-C9B0-3AC3-8997D6232B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263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C0C72E2-CA94-2C02-E576-B4D4DD2664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D17669-5088-0A5A-6FF9-1549FF7798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68542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F33749D-F1CA-2D64-4675-6A42F479C1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1971A98-1436-848F-7FD5-6DAD06194B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2861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D545055-BF98-A504-5F81-C3A9B099A1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9F33D7F-9938-70A4-58D1-50718DE9B6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840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B107AFC-AF52-BF34-98DC-509926A42C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5524868-8A0A-3732-4DB1-151E6E3027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0810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66859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9D4638C-4099-7E91-8A9F-2B188B8317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64CF0C6-15A2-CBB7-245C-4310BAD28D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215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BE28E1A-01BF-6719-3F25-FF7ABB48F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41667DF-7E1E-2301-FB33-922A8FB34C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0429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H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940A802-5D9F-1519-2C0B-11928977F6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F4D4787-336D-A563-49B9-CB7CCCE7E3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507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I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3FF3C0C-2A81-C3E0-D31F-91BA368DD3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3316DCF-2620-8B94-4F00-EED9AFD276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3080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J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31653F-E472-6512-321F-4F68D0CC82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681B1B4-38CC-908D-9528-DA147FD9A1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630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ey 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4CE1FB-282D-E9D4-DD1E-8BB9FF73B8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777604F-BF70-8DEA-ED8C-EEF4D53DCA0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B722B38-9A64-41B2-79D5-F4CEC98881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A1D2F77-6734-54AB-A783-0E2FD44A39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1577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attern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F712B7-4C2B-8D9F-04E7-2F3D4A48E0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2FDFEB-1893-6CEA-F0D2-F4AEFEF3A1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D68DBCD-5D3C-28D6-0448-CC99694256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089FF38-D3D0-0BCD-2BC7-3B564A3326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93561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attern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45236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5F83A6-FF30-3248-929C-CCAFC2606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6BD40D6-AD00-E016-C96F-EEBB45826A2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BC60BC7-0C50-10FB-7151-EA11F40EF2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5F5C516-8FF0-EF01-997B-C5520A81F4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28254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attern 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0F712B7-4C2B-8D9F-04E7-2F3D4A48E0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2FDFEB-1893-6CEA-F0D2-F4AEFEF3A14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4A2351E-7C3E-B385-7FE6-B397F31ABD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4C7F4FC-A2F2-7EC3-3DB4-16CCBBEEF8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4008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attern 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5F83A6-FF30-3248-929C-CCAFC2606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6BD40D6-AD00-E016-C96F-EEBB45826A2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56E0BE9-9E69-F008-442C-DC7C55E13B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03082" y="641929"/>
            <a:ext cx="551418" cy="33085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87169C8-D397-5C40-8586-7E55F3462E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5934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grid imag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61715CB-C1BE-A469-26C3-2B34ECCD24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22719-D113-906F-557A-AB07F529674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6D71B1E-50D4-E0C7-E22E-4757F4CEEE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AE92D56-60D0-B4E4-B0BF-E1CAF0C620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274705-ACEB-0B82-894F-D6448045AE8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294" t="10290" r="1200" b="15914"/>
          <a:stretch>
            <a:fillRect/>
          </a:stretch>
        </p:blipFill>
        <p:spPr>
          <a:xfrm>
            <a:off x="8384028" y="1527175"/>
            <a:ext cx="3041734" cy="304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8691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grid imag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4AEC06-17CE-587F-3EEA-B146F34E63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E541615-0BCE-7718-694F-1F60475D6F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A1C7BC6-053F-C22C-41D0-7484276C71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140CC72-8E17-D6BD-AE8E-F123B7E89C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0649" y="249957"/>
            <a:ext cx="402152" cy="2412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AC26B89-C9D2-0390-6C72-C0DCFECD325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294" t="10290" r="1200" b="15914"/>
          <a:stretch>
            <a:fillRect/>
          </a:stretch>
        </p:blipFill>
        <p:spPr>
          <a:xfrm>
            <a:off x="8384028" y="1527175"/>
            <a:ext cx="3041734" cy="304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30285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1CB3C19-D281-35C5-CFD4-92091B9DF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80F6F-B874-9956-A39D-B09B7463E46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36E2B1E-49B7-C6D5-A990-D802C44B16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E34E015-13B4-70B3-C7CB-3AC79D6320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1090" y="6361822"/>
            <a:ext cx="402152" cy="2412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BC4B44-61F1-C579-6A50-C0B2E7592FA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4229" b="583"/>
          <a:stretch>
            <a:fillRect/>
          </a:stretch>
        </p:blipFill>
        <p:spPr>
          <a:xfrm>
            <a:off x="7615707" y="0"/>
            <a:ext cx="4576292" cy="609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59453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image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BEE1858-6798-7E28-BEE5-466468BC38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090" y="6361822"/>
            <a:ext cx="402152" cy="2412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3E2175-DA75-77B5-59CC-5A4AC30464AC}"/>
              </a:ext>
            </a:extLst>
          </p:cNvPr>
          <p:cNvSpPr txBox="1"/>
          <p:nvPr userDrawn="1"/>
        </p:nvSpPr>
        <p:spPr>
          <a:xfrm>
            <a:off x="9153625" y="628594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0510-B3EF-E251-D8D0-D3F0A9F01BD9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D9C90D3-135E-F448-A122-BA9C3BDB7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4976190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E81F9-9990-F54B-612C-58FAC23431C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7932" y="2642084"/>
            <a:ext cx="5538815" cy="3314000"/>
          </a:xfrm>
        </p:spPr>
        <p:txBody>
          <a:bodyPr>
            <a:noAutofit/>
          </a:bodyPr>
          <a:lstStyle>
            <a:lvl1pPr marL="0" indent="0">
              <a:lnSpc>
                <a:spcPts val="2860"/>
              </a:lnSpc>
              <a:buNone/>
              <a:defRPr sz="20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Whether it’s building a personal website, automating boring tasks, or creating something useful for others, coding gives a sense of control and creativity.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5C1FF32-B384-59B9-5A4F-F418B697F7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46D606-802A-37E5-4599-45C76CC22C4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4229" b="583"/>
          <a:stretch>
            <a:fillRect/>
          </a:stretch>
        </p:blipFill>
        <p:spPr>
          <a:xfrm>
            <a:off x="7615707" y="0"/>
            <a:ext cx="4576292" cy="609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07311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CF98C95-B5FA-DFA5-D646-4AEF0CD801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518" y="6361822"/>
            <a:ext cx="402152" cy="2412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361822"/>
            <a:ext cx="30383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707F580-E3F9-3306-8AED-131FACA8ED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8417" y="6099863"/>
            <a:ext cx="765208" cy="7652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65C755B-2397-4960-DCD7-B14B849136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7B583AC2-54F2-EF5E-2E91-E262AE615D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F1C2AE4-5A69-065F-6BFC-FD9B86124C4F}"/>
              </a:ext>
            </a:extLst>
          </p:cNvPr>
          <p:cNvSpPr txBox="1"/>
          <p:nvPr userDrawn="1"/>
        </p:nvSpPr>
        <p:spPr>
          <a:xfrm>
            <a:off x="9153625" y="6290280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2A5263-1D63-3D5A-A7C4-C4F4C28C0A6D}"/>
              </a:ext>
            </a:extLst>
          </p:cNvPr>
          <p:cNvSpPr txBox="1"/>
          <p:nvPr userDrawn="1"/>
        </p:nvSpPr>
        <p:spPr>
          <a:xfrm>
            <a:off x="0" y="6367225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593DC6-09A5-3E63-B78C-447C2630A939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C15F13-335C-7AE7-6247-A4B72151C009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731ECE-D9AB-E01A-D432-C3532BBF95DA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6EF314-A183-D9CE-2D5E-B0D23CFA0116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3D6D1E-03F8-3190-4871-764F4BFE73A9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77ECD4-23FF-E32B-F1E7-50CB2CB2BAEB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F714C19D-D92A-BC23-911C-03ACE8388D6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8DF2322F-A173-5A5F-C9E2-EFD74D260A3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49AF63F0-9906-02BC-70D6-989C291780E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D61EAD2C-1394-05C8-49B2-639EB96F92EA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36B30064-3635-332E-F7CE-FAAB7642E613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A49DF716-6AF4-1B07-92A2-AE3CB6B209C3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5A914B4-22D6-BB71-A29E-73ADB51AE8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1807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B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7D85E-7BB9-2701-372D-3CDF84A46136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812686-29EC-E621-F1DD-D6BF796B572E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A98C2B-1877-156E-0E33-E568F106E0DE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C2CA2C-A62B-8A3A-8910-D87BBDC8E693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E7F72F-70FF-86A9-D421-9769D7F264D9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4CD98C-F648-0874-2697-83556BE0E795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3106B6-F2C6-687E-A996-A8D0844ED09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915FB18-6E56-B4E0-BCCC-81A7547959DA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12E3D23-FB30-A2D8-26D7-D77DC203A8C9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683FDC0-CD99-D86B-2028-4486E3DE8A6A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E554B0A2-71E3-F90A-C47D-A4FC6F07DBBA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1A6B975-F791-EC2F-837B-EC3C84FD88A1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CC082E-5EBD-76DE-8D1A-853CA894BE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C4A0D71-DA2A-EA3D-5057-E05C88D7BC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8984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C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CDE4F0-794A-FC7F-0C7F-DACEDE6B3C12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BE6176-58B7-BFFD-899E-5520DA1B6C9E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B128A-61E1-17CF-CC43-AE37DB9CB20E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62DAA5-3D43-72A3-D107-D20F32DA9A9B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6FF82A-AAC5-1673-1B85-B36C8EEEA7DC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C55AC3-9D6D-BCE3-BD5E-D26824C49596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9EF2F901-536B-D057-9778-1172B2E642B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6770CBE-9881-7355-582D-061D97FAB280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13ADC0F1-2968-8FD1-F030-77A0B664F63A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CE9A461-EBC0-2D00-7A10-5DA246DAF408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E183A25-3663-CA9D-4936-3F307CFC241A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7DCF528-D324-2F8A-33DB-8F83741431D6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52948D1-7D8C-52F8-911E-3F63C2481E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A14D1C0-169D-B943-DA6F-016DA7B411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583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D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C1F0E2-2DE2-BEB4-5FFE-50CD57D0C3CC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84236-65F1-C1D0-E328-FEA2706B5FC4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10E856-95B1-4B21-016D-8AFADA0AE24C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EC22D2-0CC4-F729-CC94-DF7EC63AD935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503718-5CD1-D2E2-5484-0BCE71111FA9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EC8EF1-EA1E-13F8-567A-B1A4ED9C9569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3C41345-4A3C-ED32-334C-2DB16827BE1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0BE6A78-E226-379F-BA4C-9CA76381978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FDE8A50-DE1D-FCEA-A344-D38AC583173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354D20-09E2-7938-F3D5-823E1A4C73A7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A53CDEB-2EEB-EAEB-AE99-91ADE34B7EBC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1DDA8FB-1D43-18E9-16BC-8DE4D85E5A39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8FCAD366-1D38-DC91-D0A7-8E55B3DE60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DF68136E-97E5-5E56-E46A-5B832F33B3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2353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62B21E-234B-5D3C-4EB4-810B52F33229}"/>
              </a:ext>
            </a:extLst>
          </p:cNvPr>
          <p:cNvSpPr txBox="1"/>
          <p:nvPr userDrawn="1"/>
        </p:nvSpPr>
        <p:spPr>
          <a:xfrm>
            <a:off x="30477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634355-90DC-0BC4-1536-5BE708AC3433}"/>
              </a:ext>
            </a:extLst>
          </p:cNvPr>
          <p:cNvSpPr txBox="1"/>
          <p:nvPr userDrawn="1"/>
        </p:nvSpPr>
        <p:spPr>
          <a:xfrm>
            <a:off x="6096000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B5D8D4-9CEB-B19A-270C-9265E0F17CFF}"/>
              </a:ext>
            </a:extLst>
          </p:cNvPr>
          <p:cNvSpPr txBox="1"/>
          <p:nvPr userDrawn="1"/>
        </p:nvSpPr>
        <p:spPr>
          <a:xfrm>
            <a:off x="9143999" y="1000350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454B30-D7A3-0A57-53E2-4ADE0822CE23}"/>
              </a:ext>
            </a:extLst>
          </p:cNvPr>
          <p:cNvSpPr txBox="1"/>
          <p:nvPr userDrawn="1"/>
        </p:nvSpPr>
        <p:spPr>
          <a:xfrm>
            <a:off x="30477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3B5664-05B3-5C1D-06C1-35F8E6D227AF}"/>
              </a:ext>
            </a:extLst>
          </p:cNvPr>
          <p:cNvSpPr txBox="1"/>
          <p:nvPr userDrawn="1"/>
        </p:nvSpPr>
        <p:spPr>
          <a:xfrm>
            <a:off x="6096000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4508C2-EE2D-6FD3-58DB-5E35E624FFDD}"/>
              </a:ext>
            </a:extLst>
          </p:cNvPr>
          <p:cNvSpPr txBox="1"/>
          <p:nvPr userDrawn="1"/>
        </p:nvSpPr>
        <p:spPr>
          <a:xfrm>
            <a:off x="9143999" y="4043995"/>
            <a:ext cx="76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06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6899079-C282-89F8-6EB5-E67BA020D46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08112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01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68977ED-7E8F-39AA-C27A-61AD5F51760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162501" y="2509615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02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230DECA-C5FC-12A5-E54D-B39D3DED740F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9216890" y="2509614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03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1521103-C7FB-1077-0F09-6ABA2E3C91B5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3108112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04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7C69813-CAF5-294C-2729-3AFC400096E6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6162501" y="5561328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05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DF7A4379-1E65-7456-C2B8-6B377288B52A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216890" y="5561327"/>
            <a:ext cx="2170472" cy="440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Step 06</a:t>
            </a:r>
            <a:br>
              <a:rPr lang="en-AU" dirty="0"/>
            </a:br>
            <a:r>
              <a:rPr lang="en-AU" dirty="0">
                <a:effectLst/>
              </a:rPr>
              <a:t>Description here</a:t>
            </a:r>
            <a:endParaRPr lang="en-US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FB53AF7D-3E9B-6167-EE15-5015A5515C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37CE139E-4CE7-47AE-0FAC-7B7D4E2922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6921" y="636182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91434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F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tx1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tx1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A3870B6-9B5A-70F4-076A-80BDA87C004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208318" y="2143174"/>
            <a:ext cx="2799047" cy="7652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Learning kicks off your journey! Attend a User Group meeting, Community Day, Summit, and/or upskilling session.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BA6D8-A9F3-11A2-8A80-DDB689B8BBE7}"/>
              </a:ext>
            </a:extLst>
          </p:cNvPr>
          <p:cNvSpPr txBox="1"/>
          <p:nvPr userDrawn="1"/>
        </p:nvSpPr>
        <p:spPr>
          <a:xfrm>
            <a:off x="6208317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FFAD15-38F3-3412-6864-F2B15FDF0B5F}"/>
              </a:ext>
            </a:extLst>
          </p:cNvPr>
          <p:cNvSpPr txBox="1"/>
          <p:nvPr userDrawn="1"/>
        </p:nvSpPr>
        <p:spPr>
          <a:xfrm>
            <a:off x="9251062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182D385-45AD-B207-BE22-C0281D054EB6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9251062" y="2301766"/>
            <a:ext cx="2799047" cy="6066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Build a Core Team and organize your first event. Draft a calendar of events for the coming year.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FF3CFB2-0E67-5F09-A6DC-7126ED764E3C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208318" y="5339255"/>
            <a:ext cx="2799047" cy="60933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more Club events with your Core Team. Start thinking about your next leadership.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936987-AE76-23C9-8662-D3995743236E}"/>
              </a:ext>
            </a:extLst>
          </p:cNvPr>
          <p:cNvSpPr txBox="1"/>
          <p:nvPr userDrawn="1"/>
        </p:nvSpPr>
        <p:spPr>
          <a:xfrm>
            <a:off x="6208317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A7BC3D-8C18-95A9-F966-EB82040A4875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9251063" y="5160579"/>
            <a:ext cx="2799047" cy="7880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a Student Community Day with nearby Captains. Transition leadership. Introduce yourself to a User Group Leader.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3D6056-708D-756B-6B17-CC8EBC7678AB}"/>
              </a:ext>
            </a:extLst>
          </p:cNvPr>
          <p:cNvSpPr txBox="1"/>
          <p:nvPr userDrawn="1"/>
        </p:nvSpPr>
        <p:spPr>
          <a:xfrm>
            <a:off x="9251062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tx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724EAF2-7703-B86C-2540-3F947061CE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1D20F3A-A794-9FCA-5EC9-37808CDB09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7143" y="6366752"/>
            <a:ext cx="402152" cy="2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55529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eps G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536D2-65A3-5A2E-D936-BFD0C646D037}"/>
              </a:ext>
            </a:extLst>
          </p:cNvPr>
          <p:cNvSpPr txBox="1"/>
          <p:nvPr userDrawn="1"/>
        </p:nvSpPr>
        <p:spPr>
          <a:xfrm>
            <a:off x="9153625" y="6282412"/>
            <a:ext cx="3038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AWS Student Builder Group</a:t>
            </a:r>
            <a:b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</a:br>
            <a:r>
              <a:rPr lang="en-US" sz="10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at Universidad del Valle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3E44B-9FFD-7279-9BD0-A293EBD1E246}"/>
              </a:ext>
            </a:extLst>
          </p:cNvPr>
          <p:cNvSpPr txBox="1"/>
          <p:nvPr userDrawn="1"/>
        </p:nvSpPr>
        <p:spPr>
          <a:xfrm>
            <a:off x="1" y="6361822"/>
            <a:ext cx="760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89E6A7C-2D1C-E94E-B1F6-A2A617A9572D}" type="slidenum">
              <a:rPr lang="en-US" sz="1000" b="0" smtClean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‹Nº›</a:t>
            </a:fld>
            <a:endParaRPr lang="en-US" sz="1000" b="0" dirty="0">
              <a:solidFill>
                <a:schemeClr val="bg2"/>
              </a:solidFill>
              <a:latin typeface="Amazon Ember Duospace" panose="020B0509020204020204" pitchFamily="50" charset="0"/>
              <a:ea typeface="Amazon Ember Duospace" panose="020B0509020204020204" pitchFamily="50" charset="0"/>
              <a:cs typeface="Amazon Ember Duospace" panose="020B0509020204020204" pitchFamily="50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012EBC-129F-FE48-AE0F-19EE2BB1E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932" y="1662932"/>
            <a:ext cx="2438319" cy="895985"/>
          </a:xfrm>
        </p:spPr>
        <p:txBody>
          <a:bodyPr anchor="t">
            <a:noAutofit/>
          </a:bodyPr>
          <a:lstStyle>
            <a:lvl1pPr>
              <a:lnSpc>
                <a:spcPts val="3380"/>
              </a:lnSpc>
              <a:defRPr sz="2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Page Heading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2D204A8-53CE-A5E9-9180-13071D565A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7143" y="6366752"/>
            <a:ext cx="402152" cy="241291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6C9AE78-A61D-F298-BE8A-5EAC2FBAEDA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208318" y="2143174"/>
            <a:ext cx="2799047" cy="7652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Learning kicks off your journey! Attend a User Group meeting, Community Day, Summit, and/or upskilling session.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77B899-17D1-20DC-D0AE-5BC0B8C2C07C}"/>
              </a:ext>
            </a:extLst>
          </p:cNvPr>
          <p:cNvSpPr txBox="1"/>
          <p:nvPr userDrawn="1"/>
        </p:nvSpPr>
        <p:spPr>
          <a:xfrm>
            <a:off x="6208317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ACC5E0-3F53-27A9-5C37-DB2039A45F13}"/>
              </a:ext>
            </a:extLst>
          </p:cNvPr>
          <p:cNvSpPr txBox="1"/>
          <p:nvPr userDrawn="1"/>
        </p:nvSpPr>
        <p:spPr>
          <a:xfrm>
            <a:off x="9251062" y="138501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02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C1C2D5D-6C86-9623-085A-21E4E3784EAD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9251062" y="2301766"/>
            <a:ext cx="2799047" cy="6066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Build a Core Team and organize your first event. Draft a calendar of events for the coming year.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1FB9D2E-CBD1-CB2E-A2EB-CBBAFF90FF9B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208318" y="5339255"/>
            <a:ext cx="2799047" cy="60933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more Club events with your Core Team. Start thinking about your next leadership.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0092DC-33EF-8813-2114-597759F5E72B}"/>
              </a:ext>
            </a:extLst>
          </p:cNvPr>
          <p:cNvSpPr txBox="1"/>
          <p:nvPr userDrawn="1"/>
        </p:nvSpPr>
        <p:spPr>
          <a:xfrm>
            <a:off x="6208317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03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328E437-A037-E26C-0A14-0E476F8196D5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9251063" y="5160579"/>
            <a:ext cx="2799047" cy="78800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bg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dirty="0">
                <a:effectLst/>
              </a:rPr>
              <a:t>Host a Student Community Day with nearby Captains. Transition leadership. Introduce yourself to a User Group Leader.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6577BB-7B7B-49D9-E0EB-6F144C96E350}"/>
              </a:ext>
            </a:extLst>
          </p:cNvPr>
          <p:cNvSpPr txBox="1"/>
          <p:nvPr userDrawn="1"/>
        </p:nvSpPr>
        <p:spPr>
          <a:xfrm>
            <a:off x="9251062" y="3178706"/>
            <a:ext cx="1064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dirty="0">
                <a:solidFill>
                  <a:schemeClr val="bg2"/>
                </a:solidFill>
                <a:latin typeface="Amazon Ember Duospace" panose="020B0509020204020204" pitchFamily="50" charset="0"/>
                <a:ea typeface="Amazon Ember Duospace" panose="020B0509020204020204" pitchFamily="50" charset="0"/>
                <a:cs typeface="Amazon Ember Duospace" panose="020B0509020204020204" pitchFamily="50" charset="0"/>
              </a:rPr>
              <a:t>04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5272665-3B05-095B-8D21-EAC88CCBEC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4960" y="6097329"/>
            <a:ext cx="770276" cy="7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494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49CAB4-50F5-15E4-182E-1BDBF6629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21" y="365125"/>
            <a:ext cx="1132780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04F8F-C09E-2F52-3A6E-E313891A1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821" y="1825625"/>
            <a:ext cx="11327803" cy="4035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D0EBD-44FC-DD4E-D37B-0E32B5352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9158" y="6110057"/>
            <a:ext cx="235592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  <a:latin typeface="Amazon Ember Duospace" panose="020B0509020204020204" pitchFamily="49" charset="0"/>
                <a:ea typeface="Amazon Ember Duospace" panose="020B0509020204020204" pitchFamily="49" charset="0"/>
                <a:cs typeface="Amazon Ember Duospace" panose="020B0509020204020204" pitchFamily="49" charset="0"/>
              </a:defRPr>
            </a:lvl1pPr>
          </a:lstStyle>
          <a:p>
            <a:r>
              <a:rPr lang="da-DK" dirty="0"/>
              <a:t>This is a </a:t>
            </a:r>
            <a:r>
              <a:rPr lang="da-DK" dirty="0" err="1"/>
              <a:t>footer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BF31D-A076-52FB-9AB9-7FC4D327D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06927" y="6165813"/>
            <a:ext cx="1204857" cy="3159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  <a:latin typeface="Amazon Ember Duospace" panose="020B0509020204020204" pitchFamily="49" charset="0"/>
                <a:ea typeface="Amazon Ember Duospace" panose="020B0509020204020204" pitchFamily="49" charset="0"/>
                <a:cs typeface="Amazon Ember Duospace" panose="020B0509020204020204" pitchFamily="49" charset="0"/>
              </a:defRPr>
            </a:lvl1pPr>
          </a:lstStyle>
          <a:p>
            <a:fld id="{7B5FACC5-58C6-DE4A-AF16-603A520A00DE}" type="slidenum">
              <a:rPr lang="da-DK" smtClean="0"/>
              <a:pPr/>
              <a:t>‹Nº›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65462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85" r:id="rId2"/>
    <p:sldLayoutId id="2147483786" r:id="rId3"/>
    <p:sldLayoutId id="2147483787" r:id="rId4"/>
    <p:sldLayoutId id="2147483788" r:id="rId5"/>
    <p:sldLayoutId id="2147483784" r:id="rId6"/>
    <p:sldLayoutId id="2147483789" r:id="rId7"/>
    <p:sldLayoutId id="2147483790" r:id="rId8"/>
    <p:sldLayoutId id="2147483791" r:id="rId9"/>
    <p:sldLayoutId id="2147483792" r:id="rId10"/>
    <p:sldLayoutId id="2147483754" r:id="rId11"/>
    <p:sldLayoutId id="2147483780" r:id="rId12"/>
    <p:sldLayoutId id="2147483781" r:id="rId13"/>
    <p:sldLayoutId id="2147483782" r:id="rId14"/>
    <p:sldLayoutId id="2147483783" r:id="rId15"/>
    <p:sldLayoutId id="2147483760" r:id="rId16"/>
    <p:sldLayoutId id="2147483794" r:id="rId17"/>
    <p:sldLayoutId id="2147483795" r:id="rId18"/>
    <p:sldLayoutId id="2147483796" r:id="rId19"/>
    <p:sldLayoutId id="2147483797" r:id="rId20"/>
    <p:sldLayoutId id="2147483798" r:id="rId21"/>
    <p:sldLayoutId id="2147483799" r:id="rId22"/>
    <p:sldLayoutId id="2147483800" r:id="rId23"/>
    <p:sldLayoutId id="2147483801" r:id="rId24"/>
    <p:sldLayoutId id="2147483802" r:id="rId25"/>
    <p:sldLayoutId id="2147483803" r:id="rId26"/>
    <p:sldLayoutId id="2147483804" r:id="rId27"/>
    <p:sldLayoutId id="2147483805" r:id="rId28"/>
    <p:sldLayoutId id="2147483806" r:id="rId29"/>
    <p:sldLayoutId id="2147483762" r:id="rId30"/>
    <p:sldLayoutId id="2147483761" r:id="rId31"/>
    <p:sldLayoutId id="2147483807" r:id="rId32"/>
    <p:sldLayoutId id="2147483808" r:id="rId33"/>
    <p:sldLayoutId id="2147483809" r:id="rId34"/>
    <p:sldLayoutId id="2147483810" r:id="rId35"/>
    <p:sldLayoutId id="2147483811" r:id="rId36"/>
    <p:sldLayoutId id="2147483812" r:id="rId37"/>
    <p:sldLayoutId id="2147483813" r:id="rId38"/>
    <p:sldLayoutId id="2147483836" r:id="rId39"/>
    <p:sldLayoutId id="2147483837" r:id="rId40"/>
    <p:sldLayoutId id="2147483814" r:id="rId41"/>
    <p:sldLayoutId id="2147483816" r:id="rId42"/>
    <p:sldLayoutId id="2147483817" r:id="rId43"/>
    <p:sldLayoutId id="2147483818" r:id="rId44"/>
    <p:sldLayoutId id="2147483819" r:id="rId45"/>
    <p:sldLayoutId id="2147483820" r:id="rId46"/>
    <p:sldLayoutId id="2147483821" r:id="rId47"/>
    <p:sldLayoutId id="2147483822" r:id="rId48"/>
    <p:sldLayoutId id="2147483823" r:id="rId49"/>
    <p:sldLayoutId id="2147483824" r:id="rId50"/>
    <p:sldLayoutId id="2147483825" r:id="rId51"/>
    <p:sldLayoutId id="2147483815" r:id="rId52"/>
    <p:sldLayoutId id="2147483826" r:id="rId53"/>
    <p:sldLayoutId id="2147483827" r:id="rId54"/>
    <p:sldLayoutId id="2147483828" r:id="rId55"/>
    <p:sldLayoutId id="2147483829" r:id="rId56"/>
    <p:sldLayoutId id="2147483830" r:id="rId57"/>
    <p:sldLayoutId id="2147483831" r:id="rId58"/>
    <p:sldLayoutId id="2147483832" r:id="rId59"/>
    <p:sldLayoutId id="2147483833" r:id="rId60"/>
    <p:sldLayoutId id="2147483834" r:id="rId61"/>
    <p:sldLayoutId id="2147483835" r:id="rId62"/>
    <p:sldLayoutId id="2147483777" r:id="rId63"/>
    <p:sldLayoutId id="2147483778" r:id="rId64"/>
    <p:sldLayoutId id="2147483838" r:id="rId65"/>
    <p:sldLayoutId id="2147483839" r:id="rId66"/>
    <p:sldLayoutId id="2147483775" r:id="rId67"/>
    <p:sldLayoutId id="2147483776" r:id="rId68"/>
    <p:sldLayoutId id="2147483767" r:id="rId69"/>
    <p:sldLayoutId id="2147483768" r:id="rId70"/>
    <p:sldLayoutId id="2147483759" r:id="rId71"/>
    <p:sldLayoutId id="2147483844" r:id="rId72"/>
    <p:sldLayoutId id="2147483846" r:id="rId73"/>
    <p:sldLayoutId id="2147483847" r:id="rId74"/>
    <p:sldLayoutId id="2147483848" r:id="rId75"/>
    <p:sldLayoutId id="2147483845" r:id="rId76"/>
    <p:sldLayoutId id="2147483849" r:id="rId7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tx1"/>
          </a:solidFill>
          <a:latin typeface="Amazon Ember Duospace" panose="020B0509020204020204" pitchFamily="49" charset="0"/>
          <a:ea typeface="Amazon Ember Duospace" panose="020B0509020204020204" pitchFamily="49" charset="0"/>
          <a:cs typeface="Amazon Ember Duospace" panose="020B0509020204020204" pitchFamily="49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Amazon Ember Duospace" panose="020B0509020204020204" pitchFamily="49" charset="0"/>
          <a:ea typeface="Amazon Ember Duospace" panose="020B0509020204020204" pitchFamily="49" charset="0"/>
          <a:cs typeface="Amazon Ember Duospace" panose="020B0509020204020204" pitchFamily="49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64">
          <p15:clr>
            <a:srgbClr val="F26B43"/>
          </p15:clr>
        </p15:guide>
        <p15:guide id="2" pos="7392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orient="horz" pos="26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8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8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8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8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8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8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8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9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5.png"/><Relationship Id="rId3" Type="http://schemas.openxmlformats.org/officeDocument/2006/relationships/image" Target="../media/image9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8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9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9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9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9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8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9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5.png"/><Relationship Id="rId3" Type="http://schemas.openxmlformats.org/officeDocument/2006/relationships/image" Target="../media/image91.png"/><Relationship Id="rId4" Type="http://schemas.openxmlformats.org/officeDocument/2006/relationships/image" Target="../media/image86.png"/><Relationship Id="rId5" Type="http://schemas.openxmlformats.org/officeDocument/2006/relationships/image" Target="../media/image92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6.png"/><Relationship Id="rId3" Type="http://schemas.openxmlformats.org/officeDocument/2006/relationships/image" Target="../media/image93.png"/><Relationship Id="rId4" Type="http://schemas.openxmlformats.org/officeDocument/2006/relationships/image" Target="../media/image9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8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8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image" Target="../media/image8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9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9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8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image" Target="../media/image8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9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6.png"/><Relationship Id="rId3" Type="http://schemas.openxmlformats.org/officeDocument/2006/relationships/image" Target="../media/image8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9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9.png"/><Relationship Id="rId3" Type="http://schemas.openxmlformats.org/officeDocument/2006/relationships/image" Target="../media/image100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Relationship Id="rId6" Type="http://schemas.openxmlformats.org/officeDocument/2006/relationships/image" Target="../media/image90.png"/><Relationship Id="rId7" Type="http://schemas.openxmlformats.org/officeDocument/2006/relationships/image" Target="../media/image10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8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10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9.png"/><Relationship Id="rId3" Type="http://schemas.openxmlformats.org/officeDocument/2006/relationships/image" Target="../media/image10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100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10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00.png"/><Relationship Id="rId3" Type="http://schemas.openxmlformats.org/officeDocument/2006/relationships/image" Target="../media/image10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10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10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10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10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0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9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image" Target="../media/image103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2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7.png"/><Relationship Id="rId3" Type="http://schemas.openxmlformats.org/officeDocument/2006/relationships/image" Target="../media/image97.png"/><Relationship Id="rId4" Type="http://schemas.openxmlformats.org/officeDocument/2006/relationships/image" Target="../media/image88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89.png"/><Relationship Id="rId3" Type="http://schemas.openxmlformats.org/officeDocument/2006/relationships/image" Target="../media/image100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Relationship Id="rId6" Type="http://schemas.openxmlformats.org/officeDocument/2006/relationships/image" Target="../media/image90.png"/><Relationship Id="rId7" Type="http://schemas.openxmlformats.org/officeDocument/2006/relationships/image" Target="../media/image10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88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85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90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2011680" cy="109728"/>
          </a:xfrm>
          <a:prstGeom prst="round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881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1A88D"/>
                </a:solidFill>
                <a:latin typeface="Aptos Display"/>
              </a:rPr>
              <a:t>Sesion 5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5200" b="1" i="0">
                <a:solidFill>
                  <a:srgbClr val="FFFFFF"/>
                </a:solidFill>
                <a:latin typeface="Aptos Display"/>
              </a:rPr>
              <a:t>IA/ML &amp; Data Analytics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2200" b="1" i="0">
                <a:solidFill>
                  <a:srgbClr val="AC5BFF"/>
                </a:solidFill>
                <a:latin typeface="Aptos"/>
              </a:rPr>
              <a:t>Servicios inteligentes y analitica de datos en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8C4CF"/>
                </a:solidFill>
                <a:latin typeface="Aptos"/>
              </a:rPr>
              <a:t>Pablo Nicolas Marin Gonzalez   ·   AWS Cloud Practitioner   ·   2026</a:t>
            </a:r>
          </a:p>
        </p:txBody>
      </p:sp>
      <p:pic>
        <p:nvPicPr>
          <p:cNvPr id="6" name="Picture 5" descr="rekog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548640"/>
            <a:ext cx="822960" cy="822960"/>
          </a:xfrm>
          <a:prstGeom prst="rect">
            <a:avLst/>
          </a:prstGeom>
        </p:spPr>
      </p:pic>
      <p:pic>
        <p:nvPicPr>
          <p:cNvPr id="7" name="Picture 6" descr="compreh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548640"/>
            <a:ext cx="822960" cy="822960"/>
          </a:xfrm>
          <a:prstGeom prst="rect">
            <a:avLst/>
          </a:prstGeom>
        </p:spPr>
      </p:pic>
      <p:pic>
        <p:nvPicPr>
          <p:cNvPr id="8" name="Picture 7" descr="bedr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548640"/>
            <a:ext cx="822960" cy="822960"/>
          </a:xfrm>
          <a:prstGeom prst="rect">
            <a:avLst/>
          </a:prstGeom>
        </p:spPr>
      </p:pic>
      <p:pic>
        <p:nvPicPr>
          <p:cNvPr id="9" name="Picture 8" descr="sagemak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1508760"/>
            <a:ext cx="822960" cy="822960"/>
          </a:xfrm>
          <a:prstGeom prst="rect">
            <a:avLst/>
          </a:prstGeom>
        </p:spPr>
      </p:pic>
      <p:pic>
        <p:nvPicPr>
          <p:cNvPr id="10" name="Picture 9" descr="kinesi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0" y="1508760"/>
            <a:ext cx="822960" cy="822960"/>
          </a:xfrm>
          <a:prstGeom prst="rect">
            <a:avLst/>
          </a:prstGeom>
        </p:spPr>
      </p:pic>
      <p:pic>
        <p:nvPicPr>
          <p:cNvPr id="11" name="Picture 10" descr="quicks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040" y="150876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 vamos a ver hoy?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/>
              <a:t>1. Que son IA, ML y los servicios gestionados</a:t>
            </a:r>
          </a:p>
          <a:p>
            <a:r>
              <a:t>La idea sin tecnicismos: ensenar a la maquina a decidir</a:t>
            </a:r>
          </a:p>
          <a:p>
            <a:r>
              <a:rPr b="1"/>
              <a:t>2. Servicios de IA listos para usar</a:t>
            </a:r>
          </a:p>
          <a:p>
            <a:r>
              <a:t>Vision, lenguaje, voz y chatbots con una simple llamada</a:t>
            </a:r>
          </a:p>
          <a:p>
            <a:r>
              <a:rPr b="1"/>
              <a:t>3. IA generativa: Bedrock y Amazon Q</a:t>
            </a:r>
          </a:p>
          <a:p>
            <a:r>
              <a:t>Modelos fundacionales y asistentes para tu empresa</a:t>
            </a:r>
          </a:p>
          <a:p>
            <a:r>
              <a:rPr b="1"/>
              <a:t>4. Construir tus propios modelos: SageMaker</a:t>
            </a:r>
          </a:p>
          <a:p>
            <a:r>
              <a:t>Cuando lo de "listo para usar" no te alcanza</a:t>
            </a:r>
          </a:p>
          <a:p>
            <a:r>
              <a:rPr b="1"/>
              <a:t>5. Data Analytics: del dato crudo al tablero</a:t>
            </a:r>
          </a:p>
          <a:p>
            <a:r>
              <a:t>Ingerir, almacenar, procesar, consultar y visualizar</a:t>
            </a:r>
          </a:p>
        </p:txBody>
      </p:sp>
      <p:pic>
        <p:nvPicPr>
          <p:cNvPr id="4" name="Picture 3" descr="sagema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 la sesion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Que salgas sabiendo ELEGIR el servicio correcto para cada necesidad.</a:t>
            </a:r>
          </a:p>
          <a:p>
            <a:r>
              <a:t>No vas a programar modelos hoy: vas a entender QUE hace cada servicio</a:t>
            </a:r>
          </a:p>
          <a:p>
            <a:r>
              <a:rPr b="1"/>
              <a:t>y CUANDO usarlo. </a:t>
            </a:r>
            <a:r>
              <a:t>Esa es justo la mentalidad que pide el examen.</a:t>
            </a:r>
          </a:p>
          <a:p>
            <a:r>
              <a:t>Al final hay DOS demos en vivo que haras tu mismo. Spoiler: son faciles.</a:t>
            </a:r>
          </a:p>
        </p:txBody>
      </p:sp>
      <p:pic>
        <p:nvPicPr>
          <p:cNvPr id="4" name="Picture 3" descr="sagema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Conceptos: IA, ML y servicios gestionados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 es la Inteligencia Artificial (IA)?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Imagina ensenar a una maquina a hacer tareas que parecen "de humanos":</a:t>
            </a:r>
          </a:p>
          <a:p>
            <a:r>
              <a:t>reconocer una cara, entender un texto o recomendarte una serie.</a:t>
            </a:r>
          </a:p>
          <a:p>
            <a:r>
              <a:t>IA es el paraguas grande; dentro vive el Machine Learning.</a:t>
            </a:r>
          </a:p>
        </p:txBody>
      </p:sp>
      <p:pic>
        <p:nvPicPr>
          <p:cNvPr id="4" name="Picture 3" descr="sagema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 es Machine Learning (ML)?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Es ensenar con EJEMPLOS en vez de con reglas escritas a mano.</a:t>
            </a:r>
          </a:p>
          <a:p>
            <a:r>
              <a:t>Le muestras miles de fotos de gatos y aprende solo que es un gato.</a:t>
            </a:r>
          </a:p>
          <a:p>
            <a:r>
              <a:rPr b="1"/>
              <a:t>La clave: </a:t>
            </a:r>
            <a:r>
              <a:t>el modelo aprende patrones de los datos y luego predice.</a:t>
            </a:r>
          </a:p>
        </p:txBody>
      </p:sp>
      <p:pic>
        <p:nvPicPr>
          <p:cNvPr id="4" name="Picture 3" descr="sagema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1A88D"/>
                </a:solidFill>
                <a:latin typeface="Aptos"/>
              </a:rPr>
              <a:t>CONCEPTOS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Tres formas de usar IA/ML en AWS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51760"/>
            <a:ext cx="3535680" cy="15544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3535680" cy="91440"/>
          </a:xfrm>
          <a:prstGeom prst="round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reh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07791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2907791"/>
            <a:ext cx="216408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1A88D"/>
                </a:solidFill>
                <a:latin typeface="Aptos"/>
              </a:rPr>
              <a:t>Servicios de IA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Listos para usar, sin saber de 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0080" y="2651760"/>
            <a:ext cx="3535680" cy="15544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50080" y="2651760"/>
            <a:ext cx="3535680" cy="91440"/>
          </a:xfrm>
          <a:prstGeom prst="roundRect">
            <a:avLst/>
          </a:prstGeom>
          <a:solidFill>
            <a:srgbClr val="AC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edr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680" y="2907791"/>
            <a:ext cx="822960" cy="822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38800" y="2907791"/>
            <a:ext cx="216408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AC5BFF"/>
                </a:solidFill>
                <a:latin typeface="Aptos"/>
              </a:rPr>
              <a:t>IA generativa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Modelos ya entrenados por una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0080" y="2651760"/>
            <a:ext cx="3535680" cy="15544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60080" y="2651760"/>
            <a:ext cx="3535680" cy="91440"/>
          </a:xfrm>
          <a:prstGeom prst="roundRect">
            <a:avLst/>
          </a:prstGeom>
          <a:solidFill>
            <a:srgbClr val="41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agema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8680" y="2907791"/>
            <a:ext cx="822960" cy="822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448800" y="2907791"/>
            <a:ext cx="216408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41B3FF"/>
                </a:solidFill>
                <a:latin typeface="Aptos"/>
              </a:rPr>
              <a:t>ML propio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Tu creas y entrenas el modelo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63550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CF"/>
                </a:solidFill>
                <a:latin typeface="Aptos"/>
              </a:rPr>
              <a:t>AWS Student Builder Group  ·  UV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gran idea: tu no gestionas la infraestructura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Antes, hacer IA exigia servidores potentes, expertos y meses de trabajo.</a:t>
            </a:r>
          </a:p>
          <a:p>
            <a:r>
              <a:t>AWS te da los servicios ya montados: tu solo haces la llamada.</a:t>
            </a:r>
          </a:p>
          <a:p>
            <a:r>
              <a:rPr b="1"/>
              <a:t>Pagas por uso </a:t>
            </a:r>
            <a:r>
              <a:t>y te concentras en el problema, no en el hardware.</a:t>
            </a:r>
          </a:p>
        </p:txBody>
      </p:sp>
      <p:pic>
        <p:nvPicPr>
          <p:cNvPr id="4" name="Picture 3" descr="sagema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/>
              <a:t>Que es Machine Learning en palabras simples?</a:t>
            </a:r>
          </a:p>
          <a:p>
            <a:r>
              <a:t>A. Escribir a mano todas las reglas posibles de un programa</a:t>
            </a:r>
          </a:p>
          <a:p>
            <a:r>
              <a:t>B. Un tipo de servidor fisico muy potente</a:t>
            </a:r>
          </a:p>
          <a:p>
            <a:r>
              <a:t>C. Ensenar a la maquina con ejemplos para que aprenda patrones y prediga</a:t>
            </a:r>
          </a:p>
          <a:p>
            <a:r>
              <a:t>D. Una base de datos relacional para 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Respuesta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>
                <a:solidFill>
                  <a:srgbClr val="00E582"/>
                </a:solidFill>
              </a:rPr>
              <a:t>✅ Respuesta correcta: C</a:t>
            </a:r>
          </a:p>
          <a:p>
            <a:r>
              <a:t>ML aprende de EJEMPLOS (datos), no de reglas escritas a mano. Con esos patrones hace predicciones.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Servicios de IA listos para usar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 son los "servicios de IA" de AWS?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Modelos ya entrenados por AWS que usas con una simple llamada (API).</a:t>
            </a:r>
          </a:p>
          <a:p>
            <a:r>
              <a:t>No necesitas saber de ML ni tener datos: funcionan desde el minuto uno.</a:t>
            </a:r>
          </a:p>
          <a:p>
            <a:r>
              <a:t>Cada uno resuelve una tarea concreta: ver, leer, oir, hablar o traducir.</a:t>
            </a:r>
          </a:p>
        </p:txBody>
      </p:sp>
      <p:pic>
        <p:nvPicPr>
          <p:cNvPr id="4" name="Picture 3" descr="compreh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Rekognition  (vision)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Analiza IMAGENES y VIDEOS: detecta objetos, escenas, texto y caras.</a:t>
            </a:r>
          </a:p>
          <a:p>
            <a:r>
              <a:t>Como darle "ojos" a tu aplicacion sin entrenar nada.</a:t>
            </a:r>
          </a:p>
          <a:p>
            <a:r>
              <a:rPr b="1"/>
              <a:t>Ejemplos: </a:t>
            </a:r>
            <a:r>
              <a:t>moderar fotos, buscar por contenido, reconocer caras.</a:t>
            </a:r>
          </a:p>
        </p:txBody>
      </p:sp>
      <p:pic>
        <p:nvPicPr>
          <p:cNvPr id="4" name="Picture 3" descr="rekog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1A88D"/>
                </a:solidFill>
                <a:latin typeface="Aptos"/>
              </a:rPr>
              <a:t>IA · VISION · CASO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Moderar fotos de una red social</a:t>
            </a:r>
          </a:p>
        </p:txBody>
      </p:sp>
      <p:pic>
        <p:nvPicPr>
          <p:cNvPr id="5" name="Picture 4" descr="rekog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685800"/>
            <a:ext cx="1097280" cy="1097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874519"/>
            <a:ext cx="10881360" cy="160020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18872" cy="1600200"/>
          </a:xfrm>
          <a:prstGeom prst="roundRect">
            <a:avLst/>
          </a:prstGeom>
          <a:solidFill>
            <a:srgbClr val="41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41B3FF"/>
                </a:solidFill>
                <a:latin typeface="Aptos"/>
              </a:rPr>
              <a:t>Escenario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Una app recibe miles de fotos al dia y quiere bloquear contenido inapropiado automaticamente.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03320"/>
            <a:ext cx="10881360" cy="173736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118872" cy="1737360"/>
          </a:xfrm>
          <a:prstGeom prst="roundRect">
            <a:avLst/>
          </a:prstGeom>
          <a:solidFill>
            <a:srgbClr val="00E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102412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E582"/>
                </a:solidFill>
                <a:latin typeface="Aptos"/>
              </a:rPr>
              <a:t>Solucion en AWS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Amazon Rekognition analiza cada imagen y marca contenido sensible al instante, sin que nadie revise foto por foto.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63550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CF"/>
                </a:solidFill>
                <a:latin typeface="Aptos"/>
              </a:rPr>
              <a:t>AWS Student Builder Group  ·  UV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Textract  (leer documentos)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Extrae TEXTO de documentos escaneados: formularios, facturas, recibos.</a:t>
            </a:r>
          </a:p>
          <a:p>
            <a:r>
              <a:t>No solo "lee" letras: entiende tablas y campos de formulario.</a:t>
            </a:r>
          </a:p>
          <a:p>
            <a:r>
              <a:t>Convierte papel y PDFs en datos que tu sistema puede usar.</a:t>
            </a:r>
          </a:p>
        </p:txBody>
      </p:sp>
      <p:pic>
        <p:nvPicPr>
          <p:cNvPr id="4" name="Picture 3" descr="tex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1A88D"/>
                </a:solidFill>
                <a:latin typeface="Aptos"/>
              </a:rPr>
              <a:t>IA ·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Rekognition vs Textract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074920" cy="393192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074920" cy="502920"/>
          </a:xfrm>
          <a:prstGeom prst="round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4480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51D25"/>
                </a:solidFill>
                <a:latin typeface="Aptos Display"/>
              </a:rPr>
              <a:t>Rekognition</a:t>
            </a:r>
          </a:p>
        </p:txBody>
      </p:sp>
      <p:pic>
        <p:nvPicPr>
          <p:cNvPr id="8" name="Picture 7" descr="rekog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606040"/>
            <a:ext cx="868680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11680" y="2697480"/>
            <a:ext cx="3429000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1A88D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Entrada: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imagenes y videos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1A88D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Detecta: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objetos, caras, escenas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1A88D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Ejemplo: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moderar fotos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20240"/>
            <a:ext cx="5074920" cy="393192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5074920" cy="502920"/>
          </a:xfrm>
          <a:prstGeom prst="roundRect">
            <a:avLst/>
          </a:prstGeom>
          <a:solidFill>
            <a:srgbClr val="41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2011680"/>
            <a:ext cx="4480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51D25"/>
                </a:solidFill>
                <a:latin typeface="Aptos Display"/>
              </a:rPr>
              <a:t>Textract</a:t>
            </a:r>
          </a:p>
        </p:txBody>
      </p:sp>
      <p:pic>
        <p:nvPicPr>
          <p:cNvPr id="13" name="Picture 12" descr="tex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2606040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43800" y="2697480"/>
            <a:ext cx="3429000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41B3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Entrada: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documentos / PDFs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41B3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Detecta: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texto, tablas, formularios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41B3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Ejemplo: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digitalizar facturas</a:t>
            </a:r>
          </a:p>
        </p:txBody>
      </p:sp>
      <p:sp>
        <p:nvSpPr>
          <p:cNvPr id="15" name="Oval 14"/>
          <p:cNvSpPr/>
          <p:nvPr/>
        </p:nvSpPr>
        <p:spPr>
          <a:xfrm>
            <a:off x="5870448" y="3611880"/>
            <a:ext cx="658368" cy="658368"/>
          </a:xfrm>
          <a:prstGeom prst="ellipse">
            <a:avLst/>
          </a:prstGeom>
          <a:solidFill>
            <a:srgbClr val="FF9900"/>
          </a:solidFill>
          <a:ln w="38100">
            <a:solidFill>
              <a:srgbClr val="151D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51D25"/>
                </a:solidFill>
              </a:rP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63550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CF"/>
                </a:solidFill>
                <a:latin typeface="Aptos"/>
              </a:rPr>
              <a:t>AWS Student Builder Group  ·  UV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/>
              <a:t>Necesitas detectar objetos y caras en las fotos que suben tus usuarios. Que servicio usas?</a:t>
            </a:r>
          </a:p>
          <a:p>
            <a:r>
              <a:t>A. Amazon Rekognition</a:t>
            </a:r>
          </a:p>
          <a:p>
            <a:r>
              <a:t>B. Amazon Textract</a:t>
            </a:r>
          </a:p>
          <a:p>
            <a:r>
              <a:t>C. Amazon Polly</a:t>
            </a:r>
          </a:p>
          <a:p>
            <a:r>
              <a:t>D. Amazon Translate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Respuesta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>
                <a:solidFill>
                  <a:srgbClr val="00E582"/>
                </a:solidFill>
              </a:rPr>
              <a:t>✅ Respuesta correcta: A</a:t>
            </a:r>
          </a:p>
          <a:p>
            <a:r>
              <a:t>Amazon Rekognition analiza imagenes y videos: objetos, escenas, texto y caras.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Comprehend  (entender texto)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Usa procesamiento de lenguaje natural (NLP) para analizar textos.</a:t>
            </a:r>
          </a:p>
          <a:p>
            <a:r>
              <a:t>Detecta el SENTIMIENTO (positivo/negativo), el idioma y entidades clave.</a:t>
            </a:r>
          </a:p>
          <a:p>
            <a:r>
              <a:rPr b="1"/>
              <a:t>Ejemplo: </a:t>
            </a:r>
            <a:r>
              <a:t>saber si los comentarios de tus clientes son buenos o malos.</a:t>
            </a:r>
          </a:p>
        </p:txBody>
      </p:sp>
      <p:pic>
        <p:nvPicPr>
          <p:cNvPr id="4" name="Picture 3" descr="compreh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1A88D"/>
                </a:solidFill>
                <a:latin typeface="Aptos"/>
              </a:rPr>
              <a:t>IA · LENGUAJE · CASO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Analizar opiniones de clientes</a:t>
            </a:r>
          </a:p>
        </p:txBody>
      </p:sp>
      <p:pic>
        <p:nvPicPr>
          <p:cNvPr id="5" name="Picture 4" descr="compreh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685800"/>
            <a:ext cx="1097280" cy="1097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874519"/>
            <a:ext cx="10881360" cy="160020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18872" cy="1600200"/>
          </a:xfrm>
          <a:prstGeom prst="roundRect">
            <a:avLst/>
          </a:prstGeom>
          <a:solidFill>
            <a:srgbClr val="41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41B3FF"/>
                </a:solidFill>
                <a:latin typeface="Aptos"/>
              </a:rPr>
              <a:t>Escenario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Una tienda recibe miles de resenas y quiere saber cuales son negativas para actuar rapido.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03320"/>
            <a:ext cx="10881360" cy="173736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118872" cy="1737360"/>
          </a:xfrm>
          <a:prstGeom prst="roundRect">
            <a:avLst/>
          </a:prstGeom>
          <a:solidFill>
            <a:srgbClr val="00E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102412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E582"/>
                </a:solidFill>
                <a:latin typeface="Aptos"/>
              </a:rPr>
              <a:t>Solucion en AWS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Amazon Comprehend lee cada resena y la clasifica por sentimiento. El equipo prioriza las negativas en segundos.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63550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CF"/>
                </a:solidFill>
                <a:latin typeface="Aptos"/>
              </a:rPr>
              <a:t>AWS Student Builder Group  ·  UV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Translate  (traducir)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Traduce texto entre muchos idiomas de forma automatica y natural.</a:t>
            </a:r>
          </a:p>
          <a:p>
            <a:r>
              <a:t>Util para apps globales, soporte multiidioma o traducir catalogos.</a:t>
            </a:r>
          </a:p>
          <a:p>
            <a:r>
              <a:t>Se combina muy bien con Comprehend (entiende) y Polly (lo lee en voz).</a:t>
            </a:r>
          </a:p>
        </p:txBody>
      </p:sp>
      <p:pic>
        <p:nvPicPr>
          <p:cNvPr id="4" name="Picture 3" descr="trans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Kendra  (busqueda inteligente)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Un buscador empresarial que entiende PREGUNTAS en lenguaje natural.</a:t>
            </a:r>
          </a:p>
          <a:p>
            <a:r>
              <a:t>En vez de palabras clave, preguntas "cuantos dias de vacaciones tengo?".</a:t>
            </a:r>
          </a:p>
          <a:p>
            <a:r>
              <a:t>Busca la respuesta dentro de los documentos internos de tu empresa.</a:t>
            </a:r>
          </a:p>
        </p:txBody>
      </p:sp>
      <p:pic>
        <p:nvPicPr>
          <p:cNvPr id="4" name="Picture 3" descr="kend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/>
              <a:t>Quieres saber si los comentarios de tus clientes son positivos o negativos. Que servicio usas?</a:t>
            </a:r>
          </a:p>
          <a:p>
            <a:r>
              <a:t>A. Amazon Kendra</a:t>
            </a:r>
          </a:p>
          <a:p>
            <a:r>
              <a:t>B. Amazon Rekognition</a:t>
            </a:r>
          </a:p>
          <a:p>
            <a:r>
              <a:t>C. Amazon Transcribe</a:t>
            </a:r>
          </a:p>
          <a:p>
            <a:r>
              <a:t>D. Amazon Comprehend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Respuesta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>
                <a:solidFill>
                  <a:srgbClr val="00E582"/>
                </a:solidFill>
              </a:rPr>
              <a:t>✅ Respuesta correcta: D</a:t>
            </a:r>
          </a:p>
          <a:p>
            <a:r>
              <a:t>Amazon Comprehend hace analisis de sentimiento y mas tareas de NLP sobre texto.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Polly  (texto a voz)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Convierte TEXTO en voz realista (text-to-speech).</a:t>
            </a:r>
          </a:p>
          <a:p>
            <a:r>
              <a:t>Dale voz a tu app: lectores de articulos, asistentes, accesibilidad.</a:t>
            </a:r>
          </a:p>
          <a:p>
            <a:r>
              <a:t>Muchas voces e idiomas, suenan naturales.</a:t>
            </a:r>
          </a:p>
        </p:txBody>
      </p:sp>
      <p:pic>
        <p:nvPicPr>
          <p:cNvPr id="4" name="Picture 3" descr="pol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Transcribe  (voz a texto)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Hace lo contrario a Polly: convierte AUDIO en texto (speech-to-text).</a:t>
            </a:r>
          </a:p>
          <a:p>
            <a:r>
              <a:t>Util para subtitulos, transcribir llamadas o notas de voz.</a:t>
            </a:r>
          </a:p>
          <a:p>
            <a:r>
              <a:t>Reconoce varios hablantes y marcas de tiempo.</a:t>
            </a:r>
          </a:p>
        </p:txBody>
      </p:sp>
      <p:pic>
        <p:nvPicPr>
          <p:cNvPr id="4" name="Picture 3" descr="transcri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1A88D"/>
                </a:solidFill>
                <a:latin typeface="Aptos"/>
              </a:rPr>
              <a:t>IA · VOZ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Polly vs Transcribe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074920" cy="393192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074920" cy="502920"/>
          </a:xfrm>
          <a:prstGeom prst="round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4480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51D25"/>
                </a:solidFill>
                <a:latin typeface="Aptos Display"/>
              </a:rPr>
              <a:t>Amazon Polly</a:t>
            </a:r>
          </a:p>
        </p:txBody>
      </p:sp>
      <p:pic>
        <p:nvPicPr>
          <p:cNvPr id="8" name="Picture 7" descr="pol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606040"/>
            <a:ext cx="868680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11680" y="2697480"/>
            <a:ext cx="3429000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1A88D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De: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texto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1A88D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A: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voz (audio)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1A88D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Ejemplo: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leer un articulo en voz alta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20240"/>
            <a:ext cx="5074920" cy="393192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5074920" cy="502920"/>
          </a:xfrm>
          <a:prstGeom prst="roundRect">
            <a:avLst/>
          </a:prstGeom>
          <a:solidFill>
            <a:srgbClr val="41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2011680"/>
            <a:ext cx="4480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51D25"/>
                </a:solidFill>
                <a:latin typeface="Aptos Display"/>
              </a:rPr>
              <a:t>Amazon Transcribe</a:t>
            </a:r>
          </a:p>
        </p:txBody>
      </p:sp>
      <p:pic>
        <p:nvPicPr>
          <p:cNvPr id="13" name="Picture 12" descr="transcri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2606040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43800" y="2697480"/>
            <a:ext cx="3429000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41B3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De: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voz (audio)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41B3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A: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texto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41B3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Ejemplo: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subtitular un video</a:t>
            </a:r>
          </a:p>
        </p:txBody>
      </p:sp>
      <p:sp>
        <p:nvSpPr>
          <p:cNvPr id="15" name="Oval 14"/>
          <p:cNvSpPr/>
          <p:nvPr/>
        </p:nvSpPr>
        <p:spPr>
          <a:xfrm>
            <a:off x="5870448" y="3611880"/>
            <a:ext cx="658368" cy="658368"/>
          </a:xfrm>
          <a:prstGeom prst="ellipse">
            <a:avLst/>
          </a:prstGeom>
          <a:solidFill>
            <a:srgbClr val="FF9900"/>
          </a:solidFill>
          <a:ln w="38100">
            <a:solidFill>
              <a:srgbClr val="151D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51D25"/>
                </a:solidFill>
              </a:rP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63550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CF"/>
                </a:solidFill>
                <a:latin typeface="Aptos"/>
              </a:rPr>
              <a:t>AWS Student Builder Group  ·  UV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Lex  (chatbots)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Crea chatbots de voz y texto, como los asistentes de atencion al cliente.</a:t>
            </a:r>
          </a:p>
          <a:p>
            <a:r>
              <a:t>Es la misma tecnologia detras de Alexa.</a:t>
            </a:r>
          </a:p>
          <a:p>
            <a:r>
              <a:rPr b="1"/>
              <a:t>Entiende la intencion </a:t>
            </a:r>
            <a:r>
              <a:t>del usuario y responde o ejecuta una accion.</a:t>
            </a:r>
          </a:p>
        </p:txBody>
      </p:sp>
      <p:pic>
        <p:nvPicPr>
          <p:cNvPr id="4" name="Picture 3" descr="compreh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Personalize  (recomendaciones)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Crea recomendaciones personalizadas, como las de las tiendas online.</a:t>
            </a:r>
          </a:p>
          <a:p>
            <a:r>
              <a:t>"Si te gusto esto, quiza te guste aquello" basado en el comportamiento.</a:t>
            </a:r>
          </a:p>
          <a:p>
            <a:r>
              <a:t>La misma tecnologia que usa Amazon.com, lista para tu app.</a:t>
            </a:r>
          </a:p>
        </p:txBody>
      </p:sp>
      <p:pic>
        <p:nvPicPr>
          <p:cNvPr id="4" name="Picture 3" descr="personal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 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/>
              <a:t>Tu app necesita LEER en voz alta las noticias a usuarios con baja vision. Que servicio usas?</a:t>
            </a:r>
          </a:p>
          <a:p>
            <a:r>
              <a:t>A. Amazon Transcribe</a:t>
            </a:r>
          </a:p>
          <a:p>
            <a:r>
              <a:t>B. Amazon Polly</a:t>
            </a:r>
          </a:p>
          <a:p>
            <a:r>
              <a:t>C. Amazon Lex</a:t>
            </a:r>
          </a:p>
          <a:p>
            <a:r>
              <a:t>D. Amazon Comprehend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Respuesta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>
                <a:solidFill>
                  <a:srgbClr val="00E582"/>
                </a:solidFill>
              </a:rPr>
              <a:t>✅ Respuesta correcta: B</a:t>
            </a:r>
          </a:p>
          <a:p>
            <a:r>
              <a:t>Amazon Polly convierte texto en voz realista (text-to-speech), ideal para accesibilidad.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 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/>
              <a:t>Quieres construir un chatbot de atencion al cliente por voz y texto. Que servicio usas?</a:t>
            </a:r>
          </a:p>
          <a:p>
            <a:r>
              <a:t>A. Amazon Kendra</a:t>
            </a:r>
          </a:p>
          <a:p>
            <a:r>
              <a:t>B. Amazon Polly</a:t>
            </a:r>
          </a:p>
          <a:p>
            <a:r>
              <a:t>C. Amazon Lex</a:t>
            </a:r>
          </a:p>
          <a:p>
            <a:r>
              <a:t>D. Amazon Personalize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Respuesta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>
                <a:solidFill>
                  <a:srgbClr val="00E582"/>
                </a:solidFill>
              </a:rPr>
              <a:t>✅ Respuesta correcta: C</a:t>
            </a:r>
          </a:p>
          <a:p>
            <a:r>
              <a:t>Amazon Lex crea interfaces conversacionales (chatbots), la tecnologia detras de Alexa.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1A88D"/>
                </a:solidFill>
                <a:latin typeface="Aptos"/>
              </a:rPr>
              <a:t>IA · 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Resumen: servicios de IA listos para usar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535680" cy="91440"/>
          </a:xfrm>
          <a:prstGeom prst="round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kog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30552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21305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1A88D"/>
                </a:solidFill>
                <a:latin typeface="Aptos"/>
              </a:rPr>
              <a:t>Rekognition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Ver imagenes y videos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0080" y="1874519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50080" y="1874519"/>
            <a:ext cx="3535680" cy="91440"/>
          </a:xfrm>
          <a:prstGeom prst="roundRect">
            <a:avLst/>
          </a:prstGeom>
          <a:solidFill>
            <a:srgbClr val="41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ex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680" y="2130552"/>
            <a:ext cx="822960" cy="822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38800" y="21305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41B3FF"/>
                </a:solidFill>
                <a:latin typeface="Aptos"/>
              </a:rPr>
              <a:t>Textract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Leer documentos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0080" y="1874519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60080" y="1874519"/>
            <a:ext cx="3535680" cy="91440"/>
          </a:xfrm>
          <a:prstGeom prst="roundRect">
            <a:avLst/>
          </a:prstGeom>
          <a:solidFill>
            <a:srgbClr val="AC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mpreh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8680" y="2130552"/>
            <a:ext cx="822960" cy="822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448800" y="21305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AC5BFF"/>
                </a:solidFill>
                <a:latin typeface="Aptos"/>
              </a:rPr>
              <a:t>Comprehend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Entender texto (NLP)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931920"/>
            <a:ext cx="3535680" cy="91440"/>
          </a:xfrm>
          <a:prstGeom prst="roundRect">
            <a:avLst/>
          </a:prstGeom>
          <a:solidFill>
            <a:srgbClr val="00E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ransl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187952"/>
            <a:ext cx="822960" cy="8229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828800" y="41879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0E582"/>
                </a:solidFill>
                <a:latin typeface="Aptos"/>
              </a:rPr>
              <a:t>Translate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Traducir idiomas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50080" y="3931920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50080" y="3931920"/>
            <a:ext cx="3535680" cy="9144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oll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8680" y="4187952"/>
            <a:ext cx="822960" cy="822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38800" y="41879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9900"/>
                </a:solidFill>
                <a:latin typeface="Aptos"/>
              </a:rPr>
              <a:t>Polly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Texto a voz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60080" y="3931920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60080" y="3931920"/>
            <a:ext cx="3535680" cy="91440"/>
          </a:xfrm>
          <a:prstGeom prst="roundRect">
            <a:avLst/>
          </a:prstGeom>
          <a:solidFill>
            <a:srgbClr val="FF5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transcri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8680" y="4187952"/>
            <a:ext cx="822960" cy="8229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448800" y="41879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57E9"/>
                </a:solidFill>
                <a:latin typeface="Aptos"/>
              </a:rPr>
              <a:t>Transcribe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Voz a texto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63550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CF"/>
                </a:solidFill>
                <a:latin typeface="Aptos"/>
              </a:rPr>
              <a:t>AWS Student Builder Group  ·  UV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1A88D"/>
                </a:solidFill>
                <a:latin typeface="Aptos"/>
              </a:rPr>
              <a:t>IA · 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Y tambien...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51760"/>
            <a:ext cx="3535680" cy="15544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3535680" cy="91440"/>
          </a:xfrm>
          <a:prstGeom prst="round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reh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07791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2907791"/>
            <a:ext cx="216408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1A88D"/>
                </a:solidFill>
                <a:latin typeface="Aptos"/>
              </a:rPr>
              <a:t>Lex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Chatbots de voz y texto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0080" y="2651760"/>
            <a:ext cx="3535680" cy="15544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50080" y="2651760"/>
            <a:ext cx="3535680" cy="91440"/>
          </a:xfrm>
          <a:prstGeom prst="roundRect">
            <a:avLst/>
          </a:prstGeom>
          <a:solidFill>
            <a:srgbClr val="41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kend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680" y="2907791"/>
            <a:ext cx="822960" cy="822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38800" y="2907791"/>
            <a:ext cx="216408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41B3FF"/>
                </a:solidFill>
                <a:latin typeface="Aptos"/>
              </a:rPr>
              <a:t>Kendra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Busqueda inteligente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0080" y="2651760"/>
            <a:ext cx="3535680" cy="15544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60080" y="2651760"/>
            <a:ext cx="3535680" cy="91440"/>
          </a:xfrm>
          <a:prstGeom prst="roundRect">
            <a:avLst/>
          </a:prstGeom>
          <a:solidFill>
            <a:srgbClr val="AC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rsonaliz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8680" y="2907791"/>
            <a:ext cx="822960" cy="822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448800" y="2907791"/>
            <a:ext cx="216408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AC5BFF"/>
                </a:solidFill>
                <a:latin typeface="Aptos"/>
              </a:rPr>
              <a:t>Personalize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Recomendaciones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63550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CF"/>
                </a:solidFill>
                <a:latin typeface="Aptos"/>
              </a:rPr>
              <a:t>AWS Student Builder Group  ·  UV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IA generativa: Bedrock y Amazon Q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 es la IA generativa?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IA que CREA contenido nuevo: texto, imagenes, codigo, resumenes.</a:t>
            </a:r>
          </a:p>
          <a:p>
            <a:r>
              <a:t>Se apoya en modelos enormes llamados FM (Foundation Models).</a:t>
            </a:r>
          </a:p>
          <a:p>
            <a:r>
              <a:rPr b="1"/>
              <a:t>Ejemplo cotidiano: </a:t>
            </a:r>
            <a:r>
              <a:t>un chat que redacta un correo o resume un informe.</a:t>
            </a:r>
          </a:p>
        </p:txBody>
      </p:sp>
      <p:pic>
        <p:nvPicPr>
          <p:cNvPr id="4" name="Picture 3" descr="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Bedrock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Te da acceso a varios modelos fundacionales (de Amazon y otras empresas)</a:t>
            </a:r>
          </a:p>
          <a:p>
            <a:r>
              <a:t>a traves de UNA sola API, sin administrar servidores.</a:t>
            </a:r>
          </a:p>
          <a:p>
            <a:r>
              <a:rPr b="1"/>
              <a:t>Eliges el modelo </a:t>
            </a:r>
            <a:r>
              <a:t>que mejor resuelve tu caso y lo integras en tu app.</a:t>
            </a:r>
          </a:p>
        </p:txBody>
      </p:sp>
      <p:pic>
        <p:nvPicPr>
          <p:cNvPr id="4" name="Picture 3" descr="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Bedrock: por que es util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/>
              <a:t>Varios modelos: </a:t>
            </a:r>
            <a:r>
              <a:t>eliges el mejor para tu caso, con una API</a:t>
            </a:r>
          </a:p>
          <a:p>
            <a:r>
              <a:rPr b="1"/>
              <a:t>Serverless: </a:t>
            </a:r>
            <a:r>
              <a:t>sin gestionar infraestructura</a:t>
            </a:r>
          </a:p>
          <a:p>
            <a:r>
              <a:rPr b="1"/>
              <a:t>Privado: </a:t>
            </a:r>
            <a:r>
              <a:t>tus datos no se usan para entrenar los modelos</a:t>
            </a:r>
          </a:p>
          <a:p>
            <a:r>
              <a:rPr b="1"/>
              <a:t>Personalizable: </a:t>
            </a:r>
            <a:r>
              <a:t>lo ajustas con tus propios datos (fine-tuning)</a:t>
            </a:r>
          </a:p>
        </p:txBody>
      </p:sp>
      <p:pic>
        <p:nvPicPr>
          <p:cNvPr id="4" name="Picture 3" descr="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AC5BFF"/>
                </a:solidFill>
                <a:latin typeface="Aptos"/>
              </a:rPr>
              <a:t>IA GENERATIVA · CASO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Resumir contratos largos</a:t>
            </a:r>
          </a:p>
        </p:txBody>
      </p:sp>
      <p:pic>
        <p:nvPicPr>
          <p:cNvPr id="5" name="Picture 4" descr="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685800"/>
            <a:ext cx="1097280" cy="1097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874519"/>
            <a:ext cx="10881360" cy="160020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18872" cy="1600200"/>
          </a:xfrm>
          <a:prstGeom prst="roundRect">
            <a:avLst/>
          </a:prstGeom>
          <a:solidFill>
            <a:srgbClr val="41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41B3FF"/>
                </a:solidFill>
                <a:latin typeface="Aptos"/>
              </a:rPr>
              <a:t>Escenario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Un equipo legal pierde horas leyendo contratos de 40 paginas para sacar los puntos clave.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03320"/>
            <a:ext cx="10881360" cy="173736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118872" cy="1737360"/>
          </a:xfrm>
          <a:prstGeom prst="roundRect">
            <a:avLst/>
          </a:prstGeom>
          <a:solidFill>
            <a:srgbClr val="00E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102412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E582"/>
                </a:solidFill>
                <a:latin typeface="Aptos"/>
              </a:rPr>
              <a:t>Solucion en AWS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Con Amazon Bedrock, un modelo resume cada contrato en un parrafo y responde preguntas sobre el. Horas convertidas en segundos.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63550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CF"/>
                </a:solidFill>
                <a:latin typeface="Aptos"/>
              </a:rPr>
              <a:t>AWS Student Builder Group  ·  UV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Q Business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Un asistente de IA generativa para tu EMPRESA.</a:t>
            </a:r>
          </a:p>
          <a:p>
            <a:r>
              <a:t>Responde preguntas usando los documentos y datos internos de la compania.</a:t>
            </a:r>
          </a:p>
          <a:p>
            <a:r>
              <a:t>"Resume el reporte de ventas de marzo" y lo hace con tus propios datos.</a:t>
            </a:r>
          </a:p>
        </p:txBody>
      </p:sp>
      <p:pic>
        <p:nvPicPr>
          <p:cNvPr id="4" name="Picture 3" descr="q-busi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Q Developer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Un asistente de IA para PROGRAMAR mas rapido.</a:t>
            </a:r>
          </a:p>
          <a:p>
            <a:r>
              <a:t>Sugiere codigo, explica errores y ayuda a entender proyectos.</a:t>
            </a:r>
          </a:p>
          <a:p>
            <a:r>
              <a:t>Es como tener un companero experto a tu lado mientras escribes codigo.</a:t>
            </a:r>
          </a:p>
        </p:txBody>
      </p:sp>
      <p:pic>
        <p:nvPicPr>
          <p:cNvPr id="4" name="Picture 3" descr="q-develo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AC5BFF"/>
                </a:solidFill>
                <a:latin typeface="Aptos"/>
              </a:rPr>
              <a:t>IA GENERATIVA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Amazon Q: dos sabores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074920" cy="393192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074920" cy="502920"/>
          </a:xfrm>
          <a:prstGeom prst="roundRect">
            <a:avLst/>
          </a:prstGeom>
          <a:solidFill>
            <a:srgbClr val="AC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4480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51D25"/>
                </a:solidFill>
                <a:latin typeface="Aptos Display"/>
              </a:rPr>
              <a:t>Q Business</a:t>
            </a:r>
          </a:p>
        </p:txBody>
      </p:sp>
      <p:pic>
        <p:nvPicPr>
          <p:cNvPr id="8" name="Picture 7" descr="q-busi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606040"/>
            <a:ext cx="868680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11680" y="2697480"/>
            <a:ext cx="3429000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AC5B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Para: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equipos de negocio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AC5B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Usa: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datos internos de la empresa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AC5B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Ejemplo: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resumir reportes, responder dudas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20240"/>
            <a:ext cx="5074920" cy="393192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5074920" cy="502920"/>
          </a:xfrm>
          <a:prstGeom prst="roundRect">
            <a:avLst/>
          </a:prstGeom>
          <a:solidFill>
            <a:srgbClr val="41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2011680"/>
            <a:ext cx="4480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51D25"/>
                </a:solidFill>
                <a:latin typeface="Aptos Display"/>
              </a:rPr>
              <a:t>Q Developer</a:t>
            </a:r>
          </a:p>
        </p:txBody>
      </p:sp>
      <p:pic>
        <p:nvPicPr>
          <p:cNvPr id="13" name="Picture 12" descr="q-develo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2606040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43800" y="2697480"/>
            <a:ext cx="3429000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41B3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Para: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desarrolladores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41B3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Usa: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contexto de tu codigo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41B3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Ejemplo: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sugerir y explicar codigo</a:t>
            </a:r>
          </a:p>
        </p:txBody>
      </p:sp>
      <p:sp>
        <p:nvSpPr>
          <p:cNvPr id="15" name="Oval 14"/>
          <p:cNvSpPr/>
          <p:nvPr/>
        </p:nvSpPr>
        <p:spPr>
          <a:xfrm>
            <a:off x="5870448" y="3611880"/>
            <a:ext cx="658368" cy="658368"/>
          </a:xfrm>
          <a:prstGeom prst="ellipse">
            <a:avLst/>
          </a:prstGeom>
          <a:solidFill>
            <a:srgbClr val="FF9900"/>
          </a:solidFill>
          <a:ln w="38100">
            <a:solidFill>
              <a:srgbClr val="151D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51D25"/>
                </a:solidFill>
              </a:rP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63550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CF"/>
                </a:solidFill>
                <a:latin typeface="Aptos"/>
              </a:rPr>
              <a:t>AWS Student Builder Group  ·  UV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 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/>
              <a:t>Quieres acceder a modelos fundacionales (FM) por una sola API, sin administrar servidores. Que usas?</a:t>
            </a:r>
          </a:p>
          <a:p>
            <a:r>
              <a:t>A. Amazon Bedrock</a:t>
            </a:r>
          </a:p>
          <a:p>
            <a:r>
              <a:t>B. Amazon SageMaker</a:t>
            </a:r>
          </a:p>
          <a:p>
            <a:r>
              <a:t>C. Amazon Comprehend</a:t>
            </a:r>
          </a:p>
          <a:p>
            <a:r>
              <a:t>D. Amazon Kendra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Respuesta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>
                <a:solidFill>
                  <a:srgbClr val="00E582"/>
                </a:solidFill>
              </a:rPr>
              <a:t>✅ Respuesta correcta: A</a:t>
            </a:r>
          </a:p>
          <a:p>
            <a:r>
              <a:t>Amazon Bedrock da acceso a varios modelos fundacionales mediante una API gestionada.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 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/>
              <a:t>Un desarrollador quiere ayuda para escribir y entender codigo mas rapido. Que servicio usa?</a:t>
            </a:r>
          </a:p>
          <a:p>
            <a:r>
              <a:t>A. Amazon Q Business</a:t>
            </a:r>
          </a:p>
          <a:p>
            <a:r>
              <a:t>B. Amazon Lex</a:t>
            </a:r>
          </a:p>
          <a:p>
            <a:r>
              <a:t>C. Amazon Polly</a:t>
            </a:r>
          </a:p>
          <a:p>
            <a:r>
              <a:t>D. Amazon Q Developer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Respuesta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>
                <a:solidFill>
                  <a:srgbClr val="00E582"/>
                </a:solidFill>
              </a:rPr>
              <a:t>✅ Respuesta correcta: D</a:t>
            </a:r>
          </a:p>
          <a:p>
            <a:r>
              <a:t>Amazon Q Developer acelera el desarrollo con sugerencias y explicaciones de codigo.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Construir tus propios modelos: SageMaker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SageMaker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Cuando los servicios "listos para usar" no te alcanzan, construyes el tuyo.</a:t>
            </a:r>
          </a:p>
          <a:p>
            <a:r>
              <a:t>SageMaker te da TODO para crear, entrenar e implementar modelos de ML.</a:t>
            </a:r>
          </a:p>
          <a:p>
            <a:r>
              <a:rPr b="1"/>
              <a:t>Y lo mejor: </a:t>
            </a:r>
            <a:r>
              <a:t>sin preocuparte por montar ni mantener la infraestructura.</a:t>
            </a:r>
          </a:p>
        </p:txBody>
      </p:sp>
      <p:pic>
        <p:nvPicPr>
          <p:cNvPr id="4" name="Picture 3" descr="sagema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SageMaker: el ciclo completo de ML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/>
              <a:t>Preparar: </a:t>
            </a:r>
            <a:r>
              <a:t>limpiar y organizar los datos</a:t>
            </a:r>
          </a:p>
          <a:p>
            <a:r>
              <a:rPr b="1"/>
              <a:t>Entrenar: </a:t>
            </a:r>
            <a:r>
              <a:t>el modelo aprende de tus datos</a:t>
            </a:r>
          </a:p>
          <a:p>
            <a:r>
              <a:rPr b="1"/>
              <a:t>Implementar: </a:t>
            </a:r>
            <a:r>
              <a:t>lo pones en produccion para que prediga</a:t>
            </a:r>
          </a:p>
          <a:p>
            <a:r>
              <a:rPr b="1"/>
              <a:t>Monitorear: </a:t>
            </a:r>
            <a:r>
              <a:t>vigilas que siga funcionando bien</a:t>
            </a:r>
          </a:p>
        </p:txBody>
      </p:sp>
      <p:pic>
        <p:nvPicPr>
          <p:cNvPr id="4" name="Picture 3" descr="sagema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SageMaker JumpStart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Un punto de partida: soluciones y modelos YA entrenados, listos para usar.</a:t>
            </a:r>
          </a:p>
          <a:p>
            <a:r>
              <a:t>Vision, lenguaje, datos en tablas... los implementas con pocos clics.</a:t>
            </a:r>
          </a:p>
          <a:p>
            <a:r>
              <a:t>Ideal para arrancar rapido sin empezar desde cero.</a:t>
            </a:r>
          </a:p>
        </p:txBody>
      </p:sp>
      <p:pic>
        <p:nvPicPr>
          <p:cNvPr id="4" name="Picture 3" descr="jump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1B3FF"/>
                </a:solidFill>
                <a:latin typeface="Aptos"/>
              </a:rPr>
              <a:t>ML PROPIO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Servicios de IA vs SageMaker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074920" cy="393192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074920" cy="502920"/>
          </a:xfrm>
          <a:prstGeom prst="round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4480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51D25"/>
                </a:solidFill>
                <a:latin typeface="Aptos Display"/>
              </a:rPr>
              <a:t>Servicios de IA</a:t>
            </a:r>
          </a:p>
        </p:txBody>
      </p:sp>
      <p:pic>
        <p:nvPicPr>
          <p:cNvPr id="8" name="Picture 7" descr="compreh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606040"/>
            <a:ext cx="868680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11680" y="2697480"/>
            <a:ext cx="3429000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1A88D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Quien entrena: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AWS, ya listo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1A88D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Necesitas ML?: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no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1A88D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Control: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bajo, pero facil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1A88D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Ejemplo: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Rekognition, Comprehend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20240"/>
            <a:ext cx="5074920" cy="393192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5074920" cy="502920"/>
          </a:xfrm>
          <a:prstGeom prst="roundRect">
            <a:avLst/>
          </a:prstGeom>
          <a:solidFill>
            <a:srgbClr val="41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2011680"/>
            <a:ext cx="4480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51D25"/>
                </a:solidFill>
                <a:latin typeface="Aptos Display"/>
              </a:rPr>
              <a:t>SageMaker</a:t>
            </a:r>
          </a:p>
        </p:txBody>
      </p:sp>
      <p:pic>
        <p:nvPicPr>
          <p:cNvPr id="13" name="Picture 12" descr="sagema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2606040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43800" y="2697480"/>
            <a:ext cx="3429000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41B3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Quien entrena: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TU, con tus datos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41B3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Necesitas ML?: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41B3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Control: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total, a medida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41B3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Ejemplo: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un modelo unico tuyo</a:t>
            </a:r>
          </a:p>
        </p:txBody>
      </p:sp>
      <p:sp>
        <p:nvSpPr>
          <p:cNvPr id="15" name="Oval 14"/>
          <p:cNvSpPr/>
          <p:nvPr/>
        </p:nvSpPr>
        <p:spPr>
          <a:xfrm>
            <a:off x="5870448" y="3611880"/>
            <a:ext cx="658368" cy="658368"/>
          </a:xfrm>
          <a:prstGeom prst="ellipse">
            <a:avLst/>
          </a:prstGeom>
          <a:solidFill>
            <a:srgbClr val="FF9900"/>
          </a:solidFill>
          <a:ln w="38100">
            <a:solidFill>
              <a:srgbClr val="151D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51D25"/>
                </a:solidFill>
              </a:rP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63550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CF"/>
                </a:solidFill>
                <a:latin typeface="Aptos"/>
              </a:rPr>
              <a:t>AWS Student Builder Group  ·  UV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1B3FF"/>
                </a:solidFill>
                <a:latin typeface="Aptos"/>
              </a:rPr>
              <a:t>ML PROPIO · CASO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Predecir cuando fallara una maquina</a:t>
            </a:r>
          </a:p>
        </p:txBody>
      </p:sp>
      <p:pic>
        <p:nvPicPr>
          <p:cNvPr id="5" name="Picture 4" descr="sagema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685800"/>
            <a:ext cx="1097280" cy="1097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874519"/>
            <a:ext cx="10881360" cy="160020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18872" cy="1600200"/>
          </a:xfrm>
          <a:prstGeom prst="roundRect">
            <a:avLst/>
          </a:prstGeom>
          <a:solidFill>
            <a:srgbClr val="41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41B3FF"/>
                </a:solidFill>
                <a:latin typeface="Aptos"/>
              </a:rPr>
              <a:t>Escenario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Una fabrica quiere predecir fallos de sus maquinas con SUS datos de sensores, un caso que ningun servicio generico cubre.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03320"/>
            <a:ext cx="10881360" cy="173736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118872" cy="1737360"/>
          </a:xfrm>
          <a:prstGeom prst="roundRect">
            <a:avLst/>
          </a:prstGeom>
          <a:solidFill>
            <a:srgbClr val="00E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102412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E582"/>
                </a:solidFill>
                <a:latin typeface="Aptos"/>
              </a:rPr>
              <a:t>Solucion en AWS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Con Amazon SageMaker entrenan un modelo a medida con sus datos y lo despliegan para anticipar fallos antes de que ocurran.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63550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CF"/>
                </a:solidFill>
                <a:latin typeface="Aptos"/>
              </a:rPr>
              <a:t>AWS Student Builder Group  ·  UV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 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/>
              <a:t>Tu caso es muy especifico y necesitas entrenar un modelo propio con tus datos. Que servicio usas?</a:t>
            </a:r>
          </a:p>
          <a:p>
            <a:r>
              <a:t>A. Amazon Rekognition</a:t>
            </a:r>
          </a:p>
          <a:p>
            <a:r>
              <a:t>B. Amazon SageMaker</a:t>
            </a:r>
          </a:p>
          <a:p>
            <a:r>
              <a:t>C. Amazon Bedrock</a:t>
            </a:r>
          </a:p>
          <a:p>
            <a:r>
              <a:t>D. Amazon Comprehend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Respuesta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>
                <a:solidFill>
                  <a:srgbClr val="00E582"/>
                </a:solidFill>
              </a:rPr>
              <a:t>✅ Respuesta correcta: B</a:t>
            </a:r>
          </a:p>
          <a:p>
            <a:r>
              <a:t>Amazon SageMaker permite crear, entrenar e implementar modelos de ML propios y a medida.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Analytics: del dato crudo al tablero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analitica de datos?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Los datos solos no sirven: hay que convertirlos en DECISIONES.</a:t>
            </a:r>
          </a:p>
          <a:p>
            <a:r>
              <a:t>La analitica recorre un camino: ingerir, guardar, procesar, consultar y ver.</a:t>
            </a:r>
          </a:p>
          <a:p>
            <a:r>
              <a:t>AWS tiene un servicio especializado para cada paso de ese camino.</a:t>
            </a:r>
          </a:p>
        </p:txBody>
      </p:sp>
      <p:pic>
        <p:nvPicPr>
          <p:cNvPr id="4" name="Picture 3" descr="quick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AC5BFF"/>
                </a:solidFill>
                <a:latin typeface="Aptos"/>
              </a:rPr>
              <a:t>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El camino del dato (pipeline)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535680" cy="91440"/>
          </a:xfrm>
          <a:prstGeom prst="roundRect">
            <a:avLst/>
          </a:prstGeom>
          <a:solidFill>
            <a:srgbClr val="00E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in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30552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21305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0E582"/>
                </a:solidFill>
                <a:latin typeface="Aptos"/>
              </a:rPr>
              <a:t>1. Ingerir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Traer los datos (streaming o lotes)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0080" y="1874519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50080" y="1874519"/>
            <a:ext cx="3535680" cy="91440"/>
          </a:xfrm>
          <a:prstGeom prst="roundRect">
            <a:avLst/>
          </a:prstGeom>
          <a:solidFill>
            <a:srgbClr val="41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680" y="2130552"/>
            <a:ext cx="822960" cy="822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38800" y="21305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41B3FF"/>
                </a:solidFill>
                <a:latin typeface="Aptos"/>
              </a:rPr>
              <a:t>2. Almacenar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Guardarlos en un data lake (S3)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0080" y="1874519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60080" y="1874519"/>
            <a:ext cx="3535680" cy="91440"/>
          </a:xfrm>
          <a:prstGeom prst="roundRect">
            <a:avLst/>
          </a:prstGeom>
          <a:solidFill>
            <a:srgbClr val="AC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8680" y="2130552"/>
            <a:ext cx="822960" cy="822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448800" y="21305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AC5BFF"/>
                </a:solidFill>
                <a:latin typeface="Aptos"/>
              </a:rPr>
              <a:t>3. Procesar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Limpiar y transformar (ETL)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931920"/>
            <a:ext cx="3535680" cy="9144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the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187952"/>
            <a:ext cx="822960" cy="8229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828800" y="41879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9900"/>
                </a:solidFill>
                <a:latin typeface="Aptos"/>
              </a:rPr>
              <a:t>4. Consultar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Preguntar con 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50080" y="3931920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50080" y="3931920"/>
            <a:ext cx="3535680" cy="91440"/>
          </a:xfrm>
          <a:prstGeom prst="roundRect">
            <a:avLst/>
          </a:prstGeom>
          <a:solidFill>
            <a:srgbClr val="FF5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quicks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8680" y="4187952"/>
            <a:ext cx="822960" cy="822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38800" y="41879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57E9"/>
                </a:solidFill>
                <a:latin typeface="Aptos"/>
              </a:rPr>
              <a:t>5. Visualizar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Tableros y graficos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60080" y="3931920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60080" y="3931920"/>
            <a:ext cx="3535680" cy="91440"/>
          </a:xfrm>
          <a:prstGeom prst="round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open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8680" y="4187952"/>
            <a:ext cx="822960" cy="8229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448800" y="41879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1A88D"/>
                </a:solidFill>
                <a:latin typeface="Aptos"/>
              </a:rPr>
              <a:t>+ Buscar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Explorar y monitorear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63550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CF"/>
                </a:solidFill>
                <a:latin typeface="Aptos"/>
              </a:rPr>
              <a:t>AWS Student Builder Group  ·  UV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Kinesis Data Streams  (ingesta en tiempo real)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Captura datos que llegan SIN PARAR: clics, sensores IoT, logs.</a:t>
            </a:r>
          </a:p>
          <a:p>
            <a:r>
              <a:t>En vez de esperar, procesas la informacion segundo a segundo.</a:t>
            </a:r>
          </a:p>
          <a:p>
            <a:r>
              <a:rPr b="1"/>
              <a:t>Ejemplo: </a:t>
            </a:r>
            <a:r>
              <a:t>seguir en vivo la actividad de una app con millones de usuarios.</a:t>
            </a:r>
          </a:p>
        </p:txBody>
      </p:sp>
      <p:pic>
        <p:nvPicPr>
          <p:cNvPr id="4" name="Picture 3" descr="kin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Data Firehose  (entrega de streaming)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Toma esos datos en streaming y los ENTREGA a su destino en segundos.</a:t>
            </a:r>
          </a:p>
          <a:p>
            <a:r>
              <a:t>Destinos tipicos: un data lake en S3, Redshift o OpenSearch.</a:t>
            </a:r>
          </a:p>
          <a:p>
            <a:r>
              <a:t>Tu no gestionas servidores: Firehose se encarga de mover y entregar.</a:t>
            </a:r>
          </a:p>
        </p:txBody>
      </p:sp>
      <p:pic>
        <p:nvPicPr>
          <p:cNvPr id="4" name="Picture 3" descr="fireh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AC5BFF"/>
                </a:solidFill>
                <a:latin typeface="Aptos"/>
              </a:rPr>
              <a:t>ANALYTICS · INGESTA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Kinesis Data Streams vs Data Firehose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074920" cy="393192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074920" cy="502920"/>
          </a:xfrm>
          <a:prstGeom prst="roundRect">
            <a:avLst/>
          </a:prstGeom>
          <a:solidFill>
            <a:srgbClr val="00E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4480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51D25"/>
                </a:solidFill>
                <a:latin typeface="Aptos Display"/>
              </a:rPr>
              <a:t>Kinesis Data Streams</a:t>
            </a:r>
          </a:p>
        </p:txBody>
      </p:sp>
      <p:pic>
        <p:nvPicPr>
          <p:cNvPr id="8" name="Picture 7" descr="kin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606040"/>
            <a:ext cx="868680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11680" y="2697480"/>
            <a:ext cx="3429000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0E582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Hace: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captura streaming en vivo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0E582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Control: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tu procesas los datos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00E582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Ejemplo: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analitica en tiempo real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20240"/>
            <a:ext cx="5074920" cy="393192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5074920" cy="502920"/>
          </a:xfrm>
          <a:prstGeom prst="roundRect">
            <a:avLst/>
          </a:prstGeom>
          <a:solidFill>
            <a:srgbClr val="41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2011680"/>
            <a:ext cx="4480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51D25"/>
                </a:solidFill>
                <a:latin typeface="Aptos Display"/>
              </a:rPr>
              <a:t>Data Firehose</a:t>
            </a:r>
          </a:p>
        </p:txBody>
      </p:sp>
      <p:pic>
        <p:nvPicPr>
          <p:cNvPr id="13" name="Picture 12" descr="fireh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2606040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43800" y="2697480"/>
            <a:ext cx="3429000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41B3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Hace: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entrega a un destino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41B3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Control: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gestionado, sin servidores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41B3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Ejemplo: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cargar datos a S3/Redshift</a:t>
            </a:r>
          </a:p>
        </p:txBody>
      </p:sp>
      <p:sp>
        <p:nvSpPr>
          <p:cNvPr id="15" name="Oval 14"/>
          <p:cNvSpPr/>
          <p:nvPr/>
        </p:nvSpPr>
        <p:spPr>
          <a:xfrm>
            <a:off x="5870448" y="3611880"/>
            <a:ext cx="658368" cy="658368"/>
          </a:xfrm>
          <a:prstGeom prst="ellipse">
            <a:avLst/>
          </a:prstGeom>
          <a:solidFill>
            <a:srgbClr val="FF9900"/>
          </a:solidFill>
          <a:ln w="38100">
            <a:solidFill>
              <a:srgbClr val="151D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51D25"/>
                </a:solidFill>
              </a:rP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63550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CF"/>
                </a:solidFill>
                <a:latin typeface="Aptos"/>
              </a:rPr>
              <a:t>AWS Student Builder Group  ·  UV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S3  como data lake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Un data lake es un gran almacen donde guardas TODOS tus datos.</a:t>
            </a:r>
          </a:p>
          <a:p>
            <a:r>
              <a:t>Estructurados o no, baratos y casi sin limite: ese es el papel de S3.</a:t>
            </a:r>
          </a:p>
          <a:p>
            <a:r>
              <a:t>Es el corazon de casi toda arquitectura de analitica en AWS.</a:t>
            </a:r>
          </a:p>
        </p:txBody>
      </p:sp>
      <p:pic>
        <p:nvPicPr>
          <p:cNvPr id="4" name="Picture 3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Redshift  (data warehouse)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Un almacen de datos para ANALITICA a gran escala (petabytes).</a:t>
            </a:r>
          </a:p>
          <a:p>
            <a:r>
              <a:t>Pensado para consultas SQL complejas sobre muchisimos registros.</a:t>
            </a:r>
          </a:p>
          <a:p>
            <a:r>
              <a:rPr b="1"/>
              <a:t>Diferencia clave: </a:t>
            </a:r>
            <a:r>
              <a:t>S3 guarda de todo; Redshift analiza datos estructurados.</a:t>
            </a:r>
          </a:p>
        </p:txBody>
      </p:sp>
      <p:pic>
        <p:nvPicPr>
          <p:cNvPr id="4" name="Picture 3" descr="red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AC5BFF"/>
                </a:solidFill>
                <a:latin typeface="Aptos"/>
              </a:rPr>
              <a:t>ANALYTICS · ALMACENAR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Data lake (S3) vs Data warehouse (Redshift)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074920" cy="393192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074920" cy="502920"/>
          </a:xfrm>
          <a:prstGeom prst="roundRect">
            <a:avLst/>
          </a:prstGeom>
          <a:solidFill>
            <a:srgbClr val="41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4480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51D25"/>
                </a:solidFill>
                <a:latin typeface="Aptos Display"/>
              </a:rPr>
              <a:t>Data lake · S3</a:t>
            </a:r>
          </a:p>
        </p:txBody>
      </p:sp>
      <p:pic>
        <p:nvPicPr>
          <p:cNvPr id="8" name="Picture 7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606040"/>
            <a:ext cx="868680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11680" y="2697480"/>
            <a:ext cx="3429000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41B3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Guarda: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cualquier dato, crudo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41B3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Esquema: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flexible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41B3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Ejemplo: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almacen central de todo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20240"/>
            <a:ext cx="5074920" cy="393192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5074920" cy="502920"/>
          </a:xfrm>
          <a:prstGeom prst="roundRect">
            <a:avLst/>
          </a:prstGeom>
          <a:solidFill>
            <a:srgbClr val="AC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2011680"/>
            <a:ext cx="4480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51D25"/>
                </a:solidFill>
                <a:latin typeface="Aptos Display"/>
              </a:rPr>
              <a:t>Data warehouse · Redshift</a:t>
            </a:r>
          </a:p>
        </p:txBody>
      </p:sp>
      <p:pic>
        <p:nvPicPr>
          <p:cNvPr id="13" name="Picture 12" descr="redsh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2606040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43800" y="2697480"/>
            <a:ext cx="3429000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AC5B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Guarda: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datos estructurados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AC5B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Esquema: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definido, para analitica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AC5BFF"/>
                </a:solidFill>
                <a:latin typeface="Aptos"/>
              </a:rPr>
              <a:t>•  </a:t>
            </a:r>
            <a:r>
              <a:rPr sz="1450" b="1" i="0">
                <a:solidFill>
                  <a:srgbClr val="FFFFFF"/>
                </a:solidFill>
                <a:latin typeface="Aptos"/>
              </a:rPr>
              <a:t>Ejemplo: </a:t>
            </a:r>
            <a:r>
              <a:rPr sz="1450" b="0" i="0">
                <a:solidFill>
                  <a:srgbClr val="B8C4CF"/>
                </a:solidFill>
                <a:latin typeface="Aptos"/>
              </a:rPr>
              <a:t>reportes SQL masivos</a:t>
            </a:r>
          </a:p>
        </p:txBody>
      </p:sp>
      <p:sp>
        <p:nvSpPr>
          <p:cNvPr id="15" name="Oval 14"/>
          <p:cNvSpPr/>
          <p:nvPr/>
        </p:nvSpPr>
        <p:spPr>
          <a:xfrm>
            <a:off x="5870448" y="3611880"/>
            <a:ext cx="658368" cy="658368"/>
          </a:xfrm>
          <a:prstGeom prst="ellipse">
            <a:avLst/>
          </a:prstGeom>
          <a:solidFill>
            <a:srgbClr val="FF9900"/>
          </a:solidFill>
          <a:ln w="38100">
            <a:solidFill>
              <a:srgbClr val="151D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51D25"/>
                </a:solidFill>
              </a:rP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63550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CF"/>
                </a:solidFill>
                <a:latin typeface="Aptos"/>
              </a:rPr>
              <a:t>AWS Student Builder Group  ·  UV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Glue  (ETL sin servidores)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ETL = Extraer, Transformar y Cargar: limpiar y preparar los datos.</a:t>
            </a:r>
          </a:p>
          <a:p>
            <a:r>
              <a:t>Glue hace ese trabajo pesado sin que administres servidores.</a:t>
            </a:r>
          </a:p>
          <a:p>
            <a:r>
              <a:t>Deja los datos listos para consultarlos y analizarlos.</a:t>
            </a:r>
          </a:p>
        </p:txBody>
      </p:sp>
      <p:pic>
        <p:nvPicPr>
          <p:cNvPr id="4" name="Picture 3" descr="g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Catalogo de datos de AWS Glue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Un indice central que guarda los METADATOS: que datos hay y donde estan.</a:t>
            </a:r>
          </a:p>
          <a:p>
            <a:r>
              <a:t>Es como el catalogo de una biblioteca: no es el libro, dice donde esta.</a:t>
            </a:r>
          </a:p>
          <a:p>
            <a:r>
              <a:t>Otros servicios (Athena, Redshift, EMR) lo usan como referencia.</a:t>
            </a:r>
          </a:p>
        </p:txBody>
      </p:sp>
      <p:pic>
        <p:nvPicPr>
          <p:cNvPr id="4" name="Picture 3" descr="glue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EMR  (big data)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Procesa VOLUMENES enormes de datos con marcos como Apache Spark.</a:t>
            </a:r>
          </a:p>
          <a:p>
            <a:r>
              <a:t>Para cuando hablamos de terabytes o petabytes de informacion.</a:t>
            </a:r>
          </a:p>
          <a:p>
            <a:r>
              <a:t>AWS gestiona el cluster; tu te enfocas en el procesamiento.</a:t>
            </a:r>
          </a:p>
        </p:txBody>
      </p:sp>
      <p:pic>
        <p:nvPicPr>
          <p:cNvPr id="4" name="Picture 3" descr="em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Athena  (consultas SQL sobre S3)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Haces preguntas con SQL directamente sobre los datos en S3.</a:t>
            </a:r>
          </a:p>
          <a:p>
            <a:r>
              <a:t>Sin montar servidores ni cargar los datos a otra base: consultas y ya.</a:t>
            </a:r>
          </a:p>
          <a:p>
            <a:r>
              <a:rPr b="1"/>
              <a:t>Pagas solo </a:t>
            </a:r>
            <a:r>
              <a:t>por los datos que escanea cada consulta.</a:t>
            </a:r>
          </a:p>
        </p:txBody>
      </p:sp>
      <p:pic>
        <p:nvPicPr>
          <p:cNvPr id="4" name="Picture 3" descr="ath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9900"/>
                </a:solidFill>
                <a:latin typeface="Aptos"/>
              </a:rPr>
              <a:t>ANALYTICS · CONSULTA · CASO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Consultar logs sin montar nada</a:t>
            </a:r>
          </a:p>
        </p:txBody>
      </p:sp>
      <p:pic>
        <p:nvPicPr>
          <p:cNvPr id="5" name="Picture 4" descr="ath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685800"/>
            <a:ext cx="1097280" cy="1097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874519"/>
            <a:ext cx="10881360" cy="160020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18872" cy="1600200"/>
          </a:xfrm>
          <a:prstGeom prst="roundRect">
            <a:avLst/>
          </a:prstGeom>
          <a:solidFill>
            <a:srgbClr val="41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41B3FF"/>
                </a:solidFill>
                <a:latin typeface="Aptos"/>
              </a:rPr>
              <a:t>Escenario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Un equipo tiene anios de logs en S3 y quiere consultarlos sin crear una base de datos ni servidores.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03320"/>
            <a:ext cx="10881360" cy="173736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118872" cy="1737360"/>
          </a:xfrm>
          <a:prstGeom prst="roundRect">
            <a:avLst/>
          </a:prstGeom>
          <a:solidFill>
            <a:srgbClr val="00E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102412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0E582"/>
                </a:solidFill>
                <a:latin typeface="Aptos"/>
              </a:rPr>
              <a:t>Solucion en AWS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Con Amazon Athena lanzan consultas SQL directamente sobre los archivos en S3 y pagan solo por lo que escanean.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63550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CF"/>
                </a:solidFill>
                <a:latin typeface="Aptos"/>
              </a:rPr>
              <a:t>AWS Student Builder Group  ·  UV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QuickSight  (tableros)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Convierte los datos en TABLEROS y graficos faciles de entender.</a:t>
            </a:r>
          </a:p>
          <a:p>
            <a:r>
              <a:t>Para que cualquiera, con o sin experiencia tecnica, vea los resultados.</a:t>
            </a:r>
          </a:p>
          <a:p>
            <a:r>
              <a:t>Hasta puedes hacer preguntas en lenguaje natural a tus datos.</a:t>
            </a:r>
          </a:p>
        </p:txBody>
      </p:sp>
      <p:pic>
        <p:nvPicPr>
          <p:cNvPr id="4" name="Picture 3" descr="quick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Amazon OpenSearch Service  (buscar y monitorear)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Busca, explora y visualiza datos en tiempo real.</a:t>
            </a:r>
          </a:p>
          <a:p>
            <a:r>
              <a:t>Ideal para analizar logs y monitorear aplicaciones.</a:t>
            </a:r>
          </a:p>
          <a:p>
            <a:r>
              <a:t>Soporta busqueda por palabras clave y por lenguaje natural.</a:t>
            </a:r>
          </a:p>
        </p:txBody>
      </p:sp>
      <p:pic>
        <p:nvPicPr>
          <p:cNvPr id="4" name="Picture 3" descr="open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 9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/>
              <a:t>Quieres consultar con SQL datos que estan en S3, sin cargar ni montar servidores. Que servicio usas?</a:t>
            </a:r>
          </a:p>
          <a:p>
            <a:r>
              <a:t>A. Amazon Athena</a:t>
            </a:r>
          </a:p>
          <a:p>
            <a:r>
              <a:t>B. Amazon QuickSight</a:t>
            </a:r>
          </a:p>
          <a:p>
            <a:r>
              <a:t>C. Amazon Kinesis</a:t>
            </a:r>
          </a:p>
          <a:p>
            <a:r>
              <a:t>D. AWS Glue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Respuesta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>
                <a:solidFill>
                  <a:srgbClr val="00E582"/>
                </a:solidFill>
              </a:rPr>
              <a:t>✅ Respuesta correcta: A</a:t>
            </a:r>
          </a:p>
          <a:p>
            <a:r>
              <a:t>Amazon Athena ejecuta consultas SQL directamente sobre datos en S3, sin servidores.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 10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/>
              <a:t>Necesitas tableros visuales para que el equipo de negocio entienda los datos. Que servicio usas?</a:t>
            </a:r>
          </a:p>
          <a:p>
            <a:r>
              <a:t>A. Amazon Athena</a:t>
            </a:r>
          </a:p>
          <a:p>
            <a:r>
              <a:t>B. Amazon EMR</a:t>
            </a:r>
          </a:p>
          <a:p>
            <a:r>
              <a:t>C. Amazon QuickSight</a:t>
            </a:r>
          </a:p>
          <a:p>
            <a:r>
              <a:t>D. AWS Glue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Respuesta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>
                <a:solidFill>
                  <a:srgbClr val="00E582"/>
                </a:solidFill>
              </a:rPr>
              <a:t>✅ Respuesta correcta: C</a:t>
            </a:r>
          </a:p>
          <a:p>
            <a:r>
              <a:t>Amazon QuickSight crea tableros interactivos y visualizaciones para todo tipo de usuario.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 11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/>
              <a:t>Que servicio captura datos de streaming en tiempo real (clics, sensores IoT)?</a:t>
            </a:r>
          </a:p>
          <a:p>
            <a:r>
              <a:t>A. Amazon Athena</a:t>
            </a:r>
          </a:p>
          <a:p>
            <a:r>
              <a:t>B. Amazon Kinesis Data Streams</a:t>
            </a:r>
          </a:p>
          <a:p>
            <a:r>
              <a:t>C. Amazon QuickSight</a:t>
            </a:r>
          </a:p>
          <a:p>
            <a:r>
              <a:t>D. Amazon Redshift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Respuesta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>
                <a:solidFill>
                  <a:srgbClr val="00E582"/>
                </a:solidFill>
              </a:rPr>
              <a:t>✅ Respuesta correcta: B</a:t>
            </a:r>
          </a:p>
          <a:p>
            <a:r>
              <a:t>Amazon Kinesis Data Streams ingiere datos de streaming en tiempo real a gran escala.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 12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/>
              <a:t>Que servicio hace ETL (limpiar y transformar datos) sin que administres servidores?</a:t>
            </a:r>
          </a:p>
          <a:p>
            <a:r>
              <a:t>A. Amazon Redshift</a:t>
            </a:r>
          </a:p>
          <a:p>
            <a:r>
              <a:t>B. Amazon QuickSight</a:t>
            </a:r>
          </a:p>
          <a:p>
            <a:r>
              <a:t>C. Amazon OpenSearch</a:t>
            </a:r>
          </a:p>
          <a:p>
            <a:r>
              <a:t>D. AWS Glue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Respuesta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>
                <a:solidFill>
                  <a:srgbClr val="00E582"/>
                </a:solidFill>
              </a:rPr>
              <a:t>✅ Respuesta correcta: D</a:t>
            </a:r>
          </a:p>
          <a:p>
            <a:r>
              <a:t>AWS Glue es el servicio de ETL serverless; prepara los datos para analizarlos.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Recap y cierre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1A88D"/>
                </a:solidFill>
                <a:latin typeface="Aptos"/>
              </a:rPr>
              <a:t>RECAP ·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Que servicio de IA usar? (1/2)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535680" cy="91440"/>
          </a:xfrm>
          <a:prstGeom prst="round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kog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30552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21305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1A88D"/>
                </a:solidFill>
                <a:latin typeface="Aptos"/>
              </a:rPr>
              <a:t>Ver imagenes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Rekognition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0080" y="1874519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50080" y="1874519"/>
            <a:ext cx="3535680" cy="91440"/>
          </a:xfrm>
          <a:prstGeom prst="roundRect">
            <a:avLst/>
          </a:prstGeom>
          <a:solidFill>
            <a:srgbClr val="41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mpreh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680" y="2130552"/>
            <a:ext cx="822960" cy="822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38800" y="21305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41B3FF"/>
                </a:solidFill>
                <a:latin typeface="Aptos"/>
              </a:rPr>
              <a:t>Entender texto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Comprehend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0080" y="1874519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60080" y="1874519"/>
            <a:ext cx="3535680" cy="91440"/>
          </a:xfrm>
          <a:prstGeom prst="roundRect">
            <a:avLst/>
          </a:prstGeom>
          <a:solidFill>
            <a:srgbClr val="AC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ol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8680" y="2130552"/>
            <a:ext cx="822960" cy="822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448800" y="21305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AC5BFF"/>
                </a:solidFill>
                <a:latin typeface="Aptos"/>
              </a:rPr>
              <a:t>Texto a voz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Polly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931920"/>
            <a:ext cx="3535680" cy="91440"/>
          </a:xfrm>
          <a:prstGeom prst="roundRect">
            <a:avLst/>
          </a:prstGeom>
          <a:solidFill>
            <a:srgbClr val="00E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ranscri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187952"/>
            <a:ext cx="822960" cy="8229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828800" y="41879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0E582"/>
                </a:solidFill>
                <a:latin typeface="Aptos"/>
              </a:rPr>
              <a:t>Voz a texto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Transcribe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50080" y="3931920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50080" y="3931920"/>
            <a:ext cx="3535680" cy="9144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ransl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8680" y="4187952"/>
            <a:ext cx="822960" cy="822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38800" y="41879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9900"/>
                </a:solidFill>
                <a:latin typeface="Aptos"/>
              </a:rPr>
              <a:t>Traducir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Translate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60080" y="3931920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60080" y="3931920"/>
            <a:ext cx="3535680" cy="91440"/>
          </a:xfrm>
          <a:prstGeom prst="roundRect">
            <a:avLst/>
          </a:prstGeom>
          <a:solidFill>
            <a:srgbClr val="FF5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ompreh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680" y="4187952"/>
            <a:ext cx="822960" cy="8229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448800" y="41879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57E9"/>
                </a:solidFill>
                <a:latin typeface="Aptos"/>
              </a:rPr>
              <a:t>Chatbot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Lex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63550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CF"/>
                </a:solidFill>
                <a:latin typeface="Aptos"/>
              </a:rPr>
              <a:t>AWS Student Builder Group  ·  UV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1A88D"/>
                </a:solidFill>
                <a:latin typeface="Aptos"/>
              </a:rPr>
              <a:t>RECAP ·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Que servicio de IA usar? (2/2)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51760"/>
            <a:ext cx="3535680" cy="15544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3535680" cy="91440"/>
          </a:xfrm>
          <a:prstGeom prst="roundRect">
            <a:avLst/>
          </a:prstGeom>
          <a:solidFill>
            <a:srgbClr val="AC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ed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07791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2907791"/>
            <a:ext cx="216408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AC5BFF"/>
                </a:solidFill>
                <a:latin typeface="Aptos"/>
              </a:rPr>
              <a:t>Crear contenido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Bedrock (IA generativa)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0080" y="2651760"/>
            <a:ext cx="3535680" cy="15544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50080" y="2651760"/>
            <a:ext cx="3535680" cy="91440"/>
          </a:xfrm>
          <a:prstGeom prst="roundRect">
            <a:avLst/>
          </a:prstGeom>
          <a:solidFill>
            <a:srgbClr val="41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q-busi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680" y="2907791"/>
            <a:ext cx="822960" cy="822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38800" y="2907791"/>
            <a:ext cx="216408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41B3FF"/>
                </a:solidFill>
                <a:latin typeface="Aptos"/>
              </a:rPr>
              <a:t>Asistente de empresa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Amazon Q Business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0080" y="2651760"/>
            <a:ext cx="3535680" cy="15544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60080" y="2651760"/>
            <a:ext cx="3535680" cy="91440"/>
          </a:xfrm>
          <a:prstGeom prst="roundRect">
            <a:avLst/>
          </a:prstGeom>
          <a:solidFill>
            <a:srgbClr val="00E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agema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8680" y="2907791"/>
            <a:ext cx="822960" cy="822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448800" y="2907791"/>
            <a:ext cx="216408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0E582"/>
                </a:solidFill>
                <a:latin typeface="Aptos"/>
              </a:rPr>
              <a:t>Modelo propio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SageMaker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63550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CF"/>
                </a:solidFill>
                <a:latin typeface="Aptos"/>
              </a:rPr>
              <a:t>AWS Student Builder Group  ·  UV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AC5BFF"/>
                </a:solidFill>
                <a:latin typeface="Aptos"/>
              </a:rPr>
              <a:t>RECAP ·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Que servicio de Analytics usar?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535680" cy="91440"/>
          </a:xfrm>
          <a:prstGeom prst="roundRect">
            <a:avLst/>
          </a:prstGeom>
          <a:solidFill>
            <a:srgbClr val="00E5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in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30552"/>
            <a:ext cx="82296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21305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0E582"/>
                </a:solidFill>
                <a:latin typeface="Aptos"/>
              </a:rPr>
              <a:t>Ingerir en vivo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Kinesis / Firehose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0080" y="1874519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50080" y="1874519"/>
            <a:ext cx="3535680" cy="91440"/>
          </a:xfrm>
          <a:prstGeom prst="roundRect">
            <a:avLst/>
          </a:prstGeom>
          <a:solidFill>
            <a:srgbClr val="41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680" y="2130552"/>
            <a:ext cx="822960" cy="822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38800" y="21305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41B3FF"/>
                </a:solidFill>
                <a:latin typeface="Aptos"/>
              </a:rPr>
              <a:t>Data lake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Amazon S3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0080" y="1874519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60080" y="1874519"/>
            <a:ext cx="3535680" cy="91440"/>
          </a:xfrm>
          <a:prstGeom prst="roundRect">
            <a:avLst/>
          </a:prstGeom>
          <a:solidFill>
            <a:srgbClr val="AC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8680" y="2130552"/>
            <a:ext cx="822960" cy="8229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448800" y="21305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AC5BFF"/>
                </a:solidFill>
                <a:latin typeface="Aptos"/>
              </a:rPr>
              <a:t>Procesar (ETL)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AWS Glue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931920"/>
            <a:ext cx="3535680" cy="9144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the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187952"/>
            <a:ext cx="822960" cy="8229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828800" y="41879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9900"/>
                </a:solidFill>
                <a:latin typeface="Aptos"/>
              </a:rPr>
              <a:t>Consultar SQL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Amazon Athena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50080" y="3931920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50080" y="3931920"/>
            <a:ext cx="3535680" cy="91440"/>
          </a:xfrm>
          <a:prstGeom prst="roundRect">
            <a:avLst/>
          </a:prstGeom>
          <a:solidFill>
            <a:srgbClr val="FF5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quicks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8680" y="4187952"/>
            <a:ext cx="822960" cy="822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38800" y="41879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57E9"/>
                </a:solidFill>
                <a:latin typeface="Aptos"/>
              </a:rPr>
              <a:t>Visualizar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QuickSight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60080" y="3931920"/>
            <a:ext cx="3535680" cy="178308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60080" y="3931920"/>
            <a:ext cx="3535680" cy="91440"/>
          </a:xfrm>
          <a:prstGeom prst="roundRect">
            <a:avLst/>
          </a:prstGeom>
          <a:solidFill>
            <a:srgbClr val="01A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edshi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8680" y="4187952"/>
            <a:ext cx="822960" cy="8229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448800" y="4187952"/>
            <a:ext cx="21640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1A88D"/>
                </a:solidFill>
                <a:latin typeface="Aptos"/>
              </a:rPr>
              <a:t>Data warehouse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Aptos"/>
              </a:rPr>
              <a:t>Amazon Redshift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63550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CF"/>
                </a:solidFill>
                <a:latin typeface="Aptos"/>
              </a:rPr>
              <a:t>AWS Student Builder Group  ·  UV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regla de oro para elegir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/>
              <a:t>Tarea comun (ver, leer, oir, traducir) -&gt; </a:t>
            </a:r>
            <a:r>
              <a:t>servicio de IA listo para usar</a:t>
            </a:r>
          </a:p>
          <a:p>
            <a:r>
              <a:rPr b="1"/>
              <a:t>Crear o resumir contenido -&gt; </a:t>
            </a:r>
            <a:r>
              <a:t>Bedrock / Amazon Q (IA generativa)</a:t>
            </a:r>
          </a:p>
          <a:p>
            <a:r>
              <a:rPr b="1"/>
              <a:t>Caso unico con tus datos -&gt; </a:t>
            </a:r>
            <a:r>
              <a:t>SageMaker (modelo propio)</a:t>
            </a:r>
          </a:p>
          <a:p>
            <a:r>
              <a:rPr b="1"/>
              <a:t>Analizar datos -&gt; </a:t>
            </a:r>
            <a:r>
              <a:t>pipeline: Kinesis, S3, Glue, Athena, QuickSight</a:t>
            </a:r>
          </a:p>
        </p:txBody>
      </p:sp>
      <p:pic>
        <p:nvPicPr>
          <p:cNvPr id="4" name="Picture 3" descr="sagema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Dos demos en vivo (las haras tu)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/>
              <a:t>Demo 1 · Rekognition</a:t>
            </a:r>
          </a:p>
          <a:p>
            <a:r>
              <a:t>Subes una foto desde una web y la IA te dice que ve en ella.</a:t>
            </a:r>
          </a:p>
          <a:p>
            <a:r>
              <a:rPr b="1"/>
              <a:t>Demo 2 · Comprehend</a:t>
            </a:r>
          </a:p>
          <a:p>
            <a:r>
              <a:t>Escribes un texto y la IA te dice el sentimiento, idioma y entidades.</a:t>
            </a:r>
          </a:p>
          <a:p>
            <a:r>
              <a:t>Ambas son serverless (API Gateway + Lambda) y entran en la capa gratuita.</a:t>
            </a:r>
          </a:p>
          <a:p>
            <a:r>
              <a:t>Estan en el repo de GitHub: solo copiar, pegar y seguir el README.</a:t>
            </a:r>
          </a:p>
        </p:txBody>
      </p:sp>
      <p:pic>
        <p:nvPicPr>
          <p:cNvPr id="4" name="Picture 3" descr="rekog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Recursos oficiales de AWS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rPr b="1"/>
              <a:t>Servicios de IA: </a:t>
            </a:r>
            <a:r>
              <a:t>Rekognition, Comprehend, Polly, Transcribe, Translate...</a:t>
            </a:r>
          </a:p>
          <a:p>
            <a:r>
              <a:rPr b="1"/>
              <a:t>IA generativa: </a:t>
            </a:r>
            <a:r>
              <a:t>Amazon Bedrock y Amazon Q (Business / Developer)</a:t>
            </a:r>
          </a:p>
          <a:p>
            <a:r>
              <a:rPr b="1"/>
              <a:t>ML propio: </a:t>
            </a:r>
            <a:r>
              <a:t>Amazon SageMaker AI y JumpStart</a:t>
            </a:r>
          </a:p>
          <a:p>
            <a:r>
              <a:rPr b="1"/>
              <a:t>Analytics: </a:t>
            </a:r>
            <a:r>
              <a:t>Kinesis, Firehose, S3, Glue, EMR, Athena, QuickSight, OpenSearch, Redshift</a:t>
            </a:r>
          </a:p>
          <a:p>
            <a:r>
              <a:t>Iconos: estilo AWS Architecture Icons, recreados para uso didactico.</a:t>
            </a:r>
          </a:p>
        </p:txBody>
      </p:sp>
      <p:pic>
        <p:nvPicPr>
          <p:cNvPr id="4" name="Picture 3" descr="quick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50292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Gracias! Fin de la Sesion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vers">
  <a:themeElements>
    <a:clrScheme name="AWS Builder">
      <a:dk1>
        <a:srgbClr val="151D25"/>
      </a:dk1>
      <a:lt1>
        <a:srgbClr val="FFFFFF"/>
      </a:lt1>
      <a:dk2>
        <a:srgbClr val="151D25"/>
      </a:dk2>
      <a:lt2>
        <a:srgbClr val="FFFFFF"/>
      </a:lt2>
      <a:accent1>
        <a:srgbClr val="151D25"/>
      </a:accent1>
      <a:accent2>
        <a:srgbClr val="FF57E9"/>
      </a:accent2>
      <a:accent3>
        <a:srgbClr val="00E582"/>
      </a:accent3>
      <a:accent4>
        <a:srgbClr val="AC5BFF"/>
      </a:accent4>
      <a:accent5>
        <a:srgbClr val="41B3FF"/>
      </a:accent5>
      <a:accent6>
        <a:srgbClr val="FF9900"/>
      </a:accent6>
      <a:hlink>
        <a:srgbClr val="41B3FF"/>
      </a:hlink>
      <a:folHlink>
        <a:srgbClr val="00E58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a34d03-bc8c-4246-a181-fef561b45adc">
      <Terms xmlns="http://schemas.microsoft.com/office/infopath/2007/PartnerControls"/>
    </lcf76f155ced4ddcb4097134ff3c332f>
    <TaxCatchAll xmlns="450c579d-3274-49e9-a0a5-72dc6366495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BBA5BA65C18149B1A3C9E34CA338B3" ma:contentTypeVersion="22" ma:contentTypeDescription="Create a new document." ma:contentTypeScope="" ma:versionID="f4707aabe2dd3c1fb54d25505b8c638b">
  <xsd:schema xmlns:xsd="http://www.w3.org/2001/XMLSchema" xmlns:xs="http://www.w3.org/2001/XMLSchema" xmlns:p="http://schemas.microsoft.com/office/2006/metadata/properties" xmlns:ns2="dba34d03-bc8c-4246-a181-fef561b45adc" xmlns:ns3="450c579d-3274-49e9-a0a5-72dc6366495b" targetNamespace="http://schemas.microsoft.com/office/2006/metadata/properties" ma:root="true" ma:fieldsID="1f1f5d4ce844e221d3ae999e30254bb9" ns2:_="" ns3:_="">
    <xsd:import namespace="dba34d03-bc8c-4246-a181-fef561b45adc"/>
    <xsd:import namespace="450c579d-3274-49e9-a0a5-72dc636649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a34d03-bc8c-4246-a181-fef561b45a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598f88-8395-42e3-b104-228bf013fe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0c579d-3274-49e9-a0a5-72dc6366495b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e0a8d44-b134-428a-a292-5c24a69b722b}" ma:internalName="TaxCatchAll" ma:showField="CatchAllData" ma:web="450c579d-3274-49e9-a0a5-72dc636649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A6E2C3-CF76-41CC-8C7E-172D89CB23F7}">
  <ds:schemaRefs>
    <ds:schemaRef ds:uri="http://schemas.microsoft.com/office/2006/metadata/properties"/>
    <ds:schemaRef ds:uri="http://schemas.microsoft.com/office/infopath/2007/PartnerControls"/>
    <ds:schemaRef ds:uri="dba34d03-bc8c-4246-a181-fef561b45adc"/>
    <ds:schemaRef ds:uri="450c579d-3274-49e9-a0a5-72dc6366495b"/>
  </ds:schemaRefs>
</ds:datastoreItem>
</file>

<file path=customXml/itemProps2.xml><?xml version="1.0" encoding="utf-8"?>
<ds:datastoreItem xmlns:ds="http://schemas.openxmlformats.org/officeDocument/2006/customXml" ds:itemID="{82C3EC68-756C-4D1B-AEE1-879C0C7918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a34d03-bc8c-4246-a181-fef561b45adc"/>
    <ds:schemaRef ds:uri="450c579d-3274-49e9-a0a5-72dc636649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F3C38F-CB27-40B2-8544-61F7275A0D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8088</TotalTime>
  <Words>1057</Words>
  <Application>Microsoft Macintosh PowerPoint</Application>
  <PresentationFormat>Panorámica</PresentationFormat>
  <Paragraphs>178</Paragraphs>
  <Slides>58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58</vt:i4>
      </vt:variant>
    </vt:vector>
  </HeadingPairs>
  <TitlesOfParts>
    <vt:vector size="64" baseType="lpstr">
      <vt:lpstr>Arial</vt:lpstr>
      <vt:lpstr>Amazon Ember</vt:lpstr>
      <vt:lpstr>Aptos</vt:lpstr>
      <vt:lpstr>Amazon Ember Duospace</vt:lpstr>
      <vt:lpstr>Amazon Ember Display</vt:lpstr>
      <vt:lpstr>Covers</vt:lpstr>
      <vt:lpstr>Tu ruta en AWS: entiende las certificaciones y da tu primer paso con GitOps</vt:lpstr>
      <vt:lpstr>Agenda</vt:lpstr>
      <vt:lpstr>¿Qué es AWS SBG at Universidad del Valle?</vt:lpstr>
      <vt:lpstr>Presentación de PowerPoint</vt:lpstr>
      <vt:lpstr>Presentación de PowerPoint</vt:lpstr>
      <vt:lpstr>Presentación de PowerPoint</vt:lpstr>
      <vt:lpstr>Presentación de PowerPoint</vt:lpstr>
      <vt:lpstr>¿Por qué aprender Cloud?</vt:lpstr>
      <vt:lpstr>¿Qué es Cloud?</vt:lpstr>
      <vt:lpstr>¿Por qué aprender Cloud?</vt:lpstr>
      <vt:lpstr>¿Por qué AWS?</vt:lpstr>
      <vt:lpstr>Presentación de PowerPoint</vt:lpstr>
      <vt:lpstr>Presentación de PowerPoint</vt:lpstr>
      <vt:lpstr>Presentación de PowerPoint</vt:lpstr>
      <vt:lpstr>Presentación de PowerPoint</vt:lpstr>
      <vt:lpstr>🏅 Niveles de Certificación AWS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🚀 ¿Por dónde empezar en AWS?</vt:lpstr>
      <vt:lpstr>📚 ¿Dónde empezar a aprender?</vt:lpstr>
      <vt:lpstr>🚀 De las Certificaciones a la Práctica </vt:lpstr>
      <vt:lpstr>Presentación de PowerPoint</vt:lpstr>
      <vt:lpstr>Presentación de PowerPoint</vt:lpstr>
      <vt:lpstr>Presentación de PowerPoint</vt:lpstr>
      <vt:lpstr>Presentación de PowerPoint</vt:lpstr>
      <vt:lpstr>Ejemplo CI/CD con GitHub Actions</vt:lpstr>
      <vt:lpstr>Presentación de PowerPoint</vt:lpstr>
      <vt:lpstr>Dockerfile básico</vt:lpstr>
      <vt:lpstr>Presentación de PowerPoint</vt:lpstr>
      <vt:lpstr>Ejemplo Deployment Kubernetes</vt:lpstr>
      <vt:lpstr>Presentación de PowerPoint</vt:lpstr>
      <vt:lpstr>Ejemplo Terraform/OpenTofu</vt:lpstr>
      <vt:lpstr>Si una empresa hace despliegues manuales directamente desde terminal… ¿qué problemas creen que podría tener?</vt:lpstr>
      <vt:lpstr>Introducción a GitOps</vt:lpstr>
      <vt:lpstr>Flujo de GitOps</vt:lpstr>
      <vt:lpstr>Git como fuente de verdad</vt:lpstr>
      <vt:lpstr>Argo CD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 Thagaard</dc:creator>
  <cp:lastModifiedBy>Juan Manuel Hoyos Contreras</cp:lastModifiedBy>
  <cp:revision>204</cp:revision>
  <dcterms:created xsi:type="dcterms:W3CDTF">2025-06-11T07:43:35Z</dcterms:created>
  <dcterms:modified xsi:type="dcterms:W3CDTF">2026-05-12T15:09:25Z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2025-06-19T22:21:55Z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217925c7-55b6-46f2-8719-01135592f11b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10, 3, 0, 1</vt:lpwstr>
  </property>
  <property fmtid="{D5CDD505-2E9C-101B-9397-08002B2CF9AE}" pid="10" name="ContentTypeId">
    <vt:lpwstr>0x01010050BBA5BA65C18149B1A3C9E34CA338B3</vt:lpwstr>
  </property>
</Properties>
</file>